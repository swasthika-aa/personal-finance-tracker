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Introduce the team and guide. State that the primary deliverable is a working local Jupyter notebook, not a hosted financial application. Replace bracketed fields before presenting.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the complete sequence: ingest, clean, store, aggregate, model, visualize, and reproduce. Emphasize that the project can be demonstrated without external accounts or paid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these as motivations and design requirements. Do not claim that every existing application lacks these capabilities; no commercial-product comparison study was performed.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 to ingestion, SQLite, analytical marts, model evaluation, and the notebook as tangible outputs rather than promising enterprise-scale infrastructure.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repeatable local processing from distributed big-data processing. Explain why controlled scope makes the bachelor's demonstration reliable.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directly verified environment is Windows with Python 3.14. Other OS CI jobs are defined, not claimed as already executed. Docker is optional and was unavailable during implementation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Trace one transaction from bank input to receipt enrichment, local persistence, aggregation, and model evaluation. There is no second implementation for the CLI or container.</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Recorded category labels are needed in the historical training period. Unknown labels can be inferred later. Globally unique IDs avoid collisions when combining exports.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row audit reconciles as 4,333 minus 1 invalid row minus 12 duplicate rows equals 4,320. Missing descriptions are filled, not deleted.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financial data is synthetic. Refer to visible patterns rather than claiming behavior of a real individual. The separate heatmap in the notebook supports category-by-month analysis.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Macro F1 averages performance across categories; it is not accuracy. Synthetic merchant repetition makes this experiment relatively easy. A stronger study would include merchant-disjoint evaluation and reviewed real labels.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deliberately an honest weak result. A fixed contamination assumption does not estimate a real fraud rate. The small labelled holdout and synthetic injection process severely limit conclusions.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backtest observes actual history only after each prediction. Future recursive forecasts differ from one-step backtesting, and uncertainty may grow with horizon. The baseline improvement is specific to this synthetic sample.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live order: audit, charts, confusion matrix, anomaly review, forecast comparison, filters, budget slider, and local storage. Keep the exported HTML as a fallback.</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business logic is reusable Python rather than copied across notebook cells and batch scripts. Notebook outputs may contain private data if users import bank records, so outputs must be cleared before sharing source.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Distinguish implemented CI gates from observed passing runs. A separate clean installation ran without Google SDKs. The source notebook retains 12 cells with valid metadata and writes executed outputs to an ignored directory.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Report each metric in its own units. Do not present F1 as accuracy or forecast MAE as a percentage. The anomaly finding is a limitation rather than evidence of fraud-detection success.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why privacy-safe synthetic inputs are appropriate for a classroom demo. Local execution alone does not guarantee privacy if bank records or executed notebooks are later uploaded publicly.</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connecting the implemented objectives to the demonstration. Avoid promising that a more complex model or infrastructure change will necessarily improve outcomes.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references document the tools used; they are not a fabricated literature review. Add institution-required citations or relevant peer-reviewed literature only after reading and verifying them.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Personal Finance Tracker and Predictive Visualizer</a:t>
            </a:r>
          </a:p>
        </p:txBody>
      </p:sp>
      <p:sp>
        <p:nvSpPr>
          <p:cNvPr id="5" name="TextBox 4"/>
          <p:cNvSpPr txBox="1"/>
          <p:nvPr/>
        </p:nvSpPr>
        <p:spPr>
          <a:xfrm>
            <a:off x="621792" y="1737360"/>
            <a:ext cx="10789920" cy="502920"/>
          </a:xfrm>
          <a:prstGeom prst="rect">
            <a:avLst/>
          </a:prstGeom>
          <a:noFill/>
        </p:spPr>
        <p:txBody>
          <a:bodyPr wrap="square" lIns="9144" rIns="9144" tIns="9144" bIns="9144">
            <a:spAutoFit/>
          </a:bodyPr>
          <a:lstStyle/>
          <a:p>
            <a:pPr>
              <a:defRPr sz="2300" b="0">
                <a:solidFill>
                  <a:srgbClr val="167464"/>
                </a:solidFill>
                <a:latin typeface="Aptos"/>
              </a:defRPr>
            </a:pPr>
            <a:r>
              <a:t>A Local, Notebook-First Data Science Project</a:t>
            </a:r>
          </a:p>
        </p:txBody>
      </p:sp>
      <p:sp>
        <p:nvSpPr>
          <p:cNvPr id="6" name="TextBox 5"/>
          <p:cNvSpPr txBox="1"/>
          <p:nvPr/>
        </p:nvSpPr>
        <p:spPr>
          <a:xfrm>
            <a:off x="621792" y="2468880"/>
            <a:ext cx="10789920" cy="4206240"/>
          </a:xfrm>
          <a:prstGeom prst="rect">
            <a:avLst/>
          </a:prstGeom>
          <a:noFill/>
        </p:spPr>
        <p:txBody>
          <a:bodyPr wrap="square" lIns="0" rIns="0" tIns="0" bIns="0">
            <a:spAutoFit/>
          </a:bodyPr>
          <a:lstStyle/>
          <a:p>
            <a:pPr>
              <a:spcAft>
                <a:spcPts val="1600"/>
              </a:spcAft>
              <a:defRPr sz="1800">
                <a:solidFill>
                  <a:srgbClr val="172C29"/>
                </a:solidFill>
                <a:latin typeface="Aptos"/>
              </a:defRPr>
            </a:pPr>
            <a:r>
              <a:t>- Bachelor's Project Presentation</a:t>
            </a:r>
          </a:p>
          <a:p>
            <a:pPr>
              <a:spcAft>
                <a:spcPts val="1600"/>
              </a:spcAft>
              <a:defRPr sz="1800">
                <a:solidFill>
                  <a:srgbClr val="172C29"/>
                </a:solidFill>
                <a:latin typeface="Aptos"/>
              </a:defRPr>
            </a:pPr>
            <a:r>
              <a:t>- Presented by: [STUDENT NAME(S)]</a:t>
            </a:r>
          </a:p>
          <a:p>
            <a:pPr>
              <a:spcAft>
                <a:spcPts val="1600"/>
              </a:spcAft>
              <a:defRPr sz="1800">
                <a:solidFill>
                  <a:srgbClr val="172C29"/>
                </a:solidFill>
                <a:latin typeface="Aptos"/>
              </a:defRPr>
            </a:pPr>
            <a:r>
              <a:t>- Register / Roll number(s): [REGISTER / ROLL NUMBER(S)]</a:t>
            </a:r>
          </a:p>
          <a:p>
            <a:pPr>
              <a:spcAft>
                <a:spcPts val="1600"/>
              </a:spcAft>
              <a:defRPr sz="1800">
                <a:solidFill>
                  <a:srgbClr val="172C29"/>
                </a:solidFill>
                <a:latin typeface="Aptos"/>
              </a:defRPr>
            </a:pPr>
            <a:r>
              <a:t>- Programme / Department: [PROGRAMME AND DEPARTMENT]</a:t>
            </a:r>
          </a:p>
          <a:p>
            <a:pPr>
              <a:spcAft>
                <a:spcPts val="1600"/>
              </a:spcAft>
              <a:defRPr sz="1800">
                <a:solidFill>
                  <a:srgbClr val="172C29"/>
                </a:solidFill>
                <a:latin typeface="Aptos"/>
              </a:defRPr>
            </a:pPr>
            <a:r>
              <a:t>- Project guide: [GUIDE NAME AND DESIGNATION]</a:t>
            </a:r>
          </a:p>
          <a:p>
            <a:pPr>
              <a:spcAft>
                <a:spcPts val="1600"/>
              </a:spcAft>
              <a:defRPr sz="1800">
                <a:solidFill>
                  <a:srgbClr val="172C29"/>
                </a:solidFill>
                <a:latin typeface="Aptos"/>
              </a:defRPr>
            </a:pPr>
            <a:r>
              <a:t>- Institution / University: [INSTITUTION AND UNIVERSITY]</a:t>
            </a:r>
          </a:p>
          <a:p>
            <a:pPr>
              <a:spcAft>
                <a:spcPts val="1600"/>
              </a:spcAft>
              <a:defRPr sz="1800">
                <a:solidFill>
                  <a:srgbClr val="172C29"/>
                </a:solidFill>
                <a:latin typeface="Aptos"/>
              </a:defRPr>
            </a:pPr>
            <a:r>
              <a:t>- Academic year / Date: [ACADEMIC YEAR] / [PRESENTATION DATE]</a:t>
            </a:r>
          </a:p>
        </p:txBody>
      </p:sp>
      <p:sp>
        <p:nvSpPr>
          <p:cNvPr id="7" name="TextBox 6"/>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[INSTITUTION LOGO PLACEHOLDER]</a:t>
            </a:r>
          </a:p>
        </p:txBody>
      </p:sp>
      <p:sp>
        <p:nvSpPr>
          <p:cNvPr id="8" name="TextBox 7"/>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9" name="TextBox 8"/>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Abstract and Project Overview</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A reproducible workflow turns multi-year bank CSVs and receipt JSON into financial insights.</a:t>
            </a:r>
          </a:p>
          <a:p>
            <a:pPr>
              <a:spcAft>
                <a:spcPts val="1600"/>
              </a:spcAft>
              <a:defRPr sz="2100">
                <a:solidFill>
                  <a:srgbClr val="172C29"/>
                </a:solidFill>
                <a:latin typeface="Aptos"/>
              </a:defRPr>
            </a:pPr>
            <a:r>
              <a:t>- Python cleans records, stores transaction documents, and builds monthly analytical summaries.</a:t>
            </a:r>
          </a:p>
          <a:p>
            <a:pPr>
              <a:spcAft>
                <a:spcPts val="1600"/>
              </a:spcAft>
              <a:defRPr sz="2100">
                <a:solidFill>
                  <a:srgbClr val="172C29"/>
                </a:solidFill>
                <a:latin typeface="Aptos"/>
              </a:defRPr>
            </a:pPr>
            <a:r>
              <a:t>- Machine learning supports expense categorization, anomaly review, and expense forecasting.</a:t>
            </a:r>
          </a:p>
          <a:p>
            <a:pPr>
              <a:spcAft>
                <a:spcPts val="1600"/>
              </a:spcAft>
              <a:defRPr sz="2100">
                <a:solidFill>
                  <a:srgbClr val="172C29"/>
                </a:solidFill>
                <a:latin typeface="Aptos"/>
              </a:defRPr>
            </a:pPr>
            <a:r>
              <a:t>- Jupyter combines experiments, visualizations, evaluation, and interactive budget scenarios.</a:t>
            </a:r>
          </a:p>
          <a:p>
            <a:pPr>
              <a:spcAft>
                <a:spcPts val="1600"/>
              </a:spcAft>
              <a:defRPr sz="2100">
                <a:solidFill>
                  <a:srgbClr val="172C29"/>
                </a:solidFill>
                <a:latin typeface="Aptos"/>
              </a:defRPr>
            </a:pPr>
            <a:r>
              <a:t>- The assessed demonstration runs locally; Docker is an optional packaging alternative.</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Educational analytics using synthetic data; not financial advice.</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02 / 20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Problem Statement</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Bank exports spread transactions across files, time periods, and inconsistent records.</a:t>
            </a:r>
          </a:p>
          <a:p>
            <a:pPr>
              <a:spcAft>
                <a:spcPts val="1600"/>
              </a:spcAft>
              <a:defRPr sz="2100">
                <a:solidFill>
                  <a:srgbClr val="172C29"/>
                </a:solidFill>
                <a:latin typeface="Aptos"/>
              </a:defRPr>
            </a:pPr>
            <a:r>
              <a:t>- Manual spreadsheet review makes multi-year spending patterns difficult to compare consistently.</a:t>
            </a:r>
          </a:p>
          <a:p>
            <a:pPr>
              <a:spcAft>
                <a:spcPts val="1600"/>
              </a:spcAft>
              <a:defRPr sz="2100">
                <a:solidFill>
                  <a:srgbClr val="172C29"/>
                </a:solidFill>
                <a:latin typeface="Aptos"/>
              </a:defRPr>
            </a:pPr>
            <a:r>
              <a:t>- Missing descriptions, duplicate IDs, and invalid dates can distort summaries.</a:t>
            </a:r>
          </a:p>
          <a:p>
            <a:pPr>
              <a:spcAft>
                <a:spcPts val="1600"/>
              </a:spcAft>
              <a:defRPr sz="2100">
                <a:solidFill>
                  <a:srgbClr val="172C29"/>
                </a:solidFill>
                <a:latin typeface="Aptos"/>
              </a:defRPr>
            </a:pPr>
            <a:r>
              <a:t>- Categorization, unusual spending, and future budgets need an auditable analytical workflow.</a:t>
            </a:r>
          </a:p>
          <a:p>
            <a:pPr>
              <a:spcAft>
                <a:spcPts val="1600"/>
              </a:spcAft>
              <a:defRPr sz="2100">
                <a:solidFill>
                  <a:srgbClr val="172C29"/>
                </a:solidFill>
                <a:latin typeface="Aptos"/>
              </a:defRPr>
            </a:pPr>
            <a:r>
              <a:t>- Research question: can a notebook provide useful insight while making model limitations visible?</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The comparison is with manual analysis, not a benchmark against commercial finance products.</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03 / 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Objectives</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Ingest full-history bank CSVs and enrich matching transactions with JSON receipts.</a:t>
            </a:r>
          </a:p>
          <a:p>
            <a:pPr>
              <a:spcAft>
                <a:spcPts val="1600"/>
              </a:spcAft>
              <a:defRPr sz="2100">
                <a:solidFill>
                  <a:srgbClr val="172C29"/>
                </a:solidFill>
                <a:latin typeface="Aptos"/>
              </a:defRPr>
            </a:pPr>
            <a:r>
              <a:t>- Audit and preprocess missing, invalid, duplicate, and inconsistent records.</a:t>
            </a:r>
          </a:p>
          <a:p>
            <a:pPr>
              <a:spcAft>
                <a:spcPts val="1600"/>
              </a:spcAft>
              <a:defRPr sz="2100">
                <a:solidFill>
                  <a:srgbClr val="172C29"/>
                </a:solidFill>
                <a:latin typeface="Aptos"/>
              </a:defRPr>
            </a:pPr>
            <a:r>
              <a:t>- Build local transaction documents and monthly cash-flow marts.</a:t>
            </a:r>
          </a:p>
          <a:p>
            <a:pPr>
              <a:spcAft>
                <a:spcPts val="1600"/>
              </a:spcAft>
              <a:defRPr sz="2100">
                <a:solidFill>
                  <a:srgbClr val="172C29"/>
                </a:solidFill>
                <a:latin typeface="Aptos"/>
              </a:defRPr>
            </a:pPr>
            <a:r>
              <a:t>- Evaluate categorization, anomaly review, and forecasting using time-ordered experiments.</a:t>
            </a:r>
          </a:p>
          <a:p>
            <a:pPr>
              <a:spcAft>
                <a:spcPts val="1600"/>
              </a:spcAft>
              <a:defRPr sz="2100">
                <a:solidFill>
                  <a:srgbClr val="172C29"/>
                </a:solidFill>
                <a:latin typeface="Aptos"/>
              </a:defRPr>
            </a:pPr>
            <a:r>
              <a:t>- Deliver interactive notebook analysis, reports, tests, and portable setup instructions.</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Each objective is demonstrated through the shared Python implementation.</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04 / 20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Scope and Deliverables</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One configured currency and a full-history dataset; positive amounts mean income and negative amounts mean spending.</a:t>
            </a:r>
          </a:p>
          <a:p>
            <a:pPr>
              <a:spcAft>
                <a:spcPts val="1600"/>
              </a:spcAft>
              <a:defRPr sz="2100">
                <a:solidFill>
                  <a:srgbClr val="172C29"/>
                </a:solidFill>
                <a:latin typeface="Aptos"/>
              </a:defRPr>
            </a:pPr>
            <a:r>
              <a:t>- A seeded five-year dataset supports repeatable demonstrations without exposing private bank records.</a:t>
            </a:r>
          </a:p>
          <a:p>
            <a:pPr>
              <a:spcAft>
                <a:spcPts val="1600"/>
              </a:spcAft>
              <a:defRPr sz="2100">
                <a:solidFill>
                  <a:srgbClr val="172C29"/>
                </a:solidFill>
                <a:latin typeface="Aptos"/>
              </a:defRPr>
            </a:pPr>
            <a:r>
              <a:t>- Deliverables: notebook, reusable Python package, CLI, tests, metrics, CSVs, charts, and HTML report.</a:t>
            </a:r>
          </a:p>
          <a:p>
            <a:pPr>
              <a:spcAft>
                <a:spcPts val="1600"/>
              </a:spcAft>
              <a:defRPr sz="2100">
                <a:solidFill>
                  <a:srgbClr val="172C29"/>
                </a:solidFill>
                <a:latin typeface="Aptos"/>
              </a:defRPr>
            </a:pPr>
            <a:r>
              <a:t>- SQLite JSON and Pandas provide local storage and analytics; no remote services are required.</a:t>
            </a:r>
          </a:p>
          <a:p>
            <a:pPr>
              <a:spcAft>
                <a:spcPts val="1600"/>
              </a:spcAft>
              <a:defRPr sz="2100">
                <a:solidFill>
                  <a:srgbClr val="172C29"/>
                </a:solidFill>
                <a:latin typeface="Aptos"/>
              </a:defRPr>
            </a:pPr>
            <a:r>
              <a:t>- Excluded: live bank connectors, currency conversion, fraud decisions, and production accounting guarantees.</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At least 36 complete monthly periods are required by the full forecasting workflow.</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05 / 20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Technology and Execution Requirements</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Python 3.14: the verified runtime and dependency snapshot.</a:t>
            </a:r>
          </a:p>
          <a:p>
            <a:pPr>
              <a:spcAft>
                <a:spcPts val="1600"/>
              </a:spcAft>
              <a:defRPr sz="2100">
                <a:solidFill>
                  <a:srgbClr val="172C29"/>
                </a:solidFill>
                <a:latin typeface="Aptos"/>
              </a:defRPr>
            </a:pPr>
            <a:r>
              <a:t>- JupyterLab, IPython, and ipywidgets: narrative, execution, and interactive controls.</a:t>
            </a:r>
          </a:p>
          <a:p>
            <a:pPr>
              <a:spcAft>
                <a:spcPts val="1600"/>
              </a:spcAft>
              <a:defRPr sz="2100">
                <a:solidFill>
                  <a:srgbClr val="172C29"/>
                </a:solidFill>
                <a:latin typeface="Aptos"/>
              </a:defRPr>
            </a:pPr>
            <a:r>
              <a:t>- Pandas and NumPy: preprocessing, aggregation, and numerical features.</a:t>
            </a:r>
          </a:p>
          <a:p>
            <a:pPr>
              <a:spcAft>
                <a:spcPts val="1600"/>
              </a:spcAft>
              <a:defRPr sz="2100">
                <a:solidFill>
                  <a:srgbClr val="172C29"/>
                </a:solidFill>
                <a:latin typeface="Aptos"/>
              </a:defRPr>
            </a:pPr>
            <a:r>
              <a:t>- scikit-learn: Logistic Regression, Isolation Forest, Ridge, and evaluation metrics.</a:t>
            </a:r>
          </a:p>
          <a:p>
            <a:pPr>
              <a:spcAft>
                <a:spcPts val="1600"/>
              </a:spcAft>
              <a:defRPr sz="2100">
                <a:solidFill>
                  <a:srgbClr val="172C29"/>
                </a:solidFill>
                <a:latin typeface="Aptos"/>
              </a:defRPr>
            </a:pPr>
            <a:r>
              <a:t>- Matplotlib / Seaborn and SQLite: visual reporting and local JSON document persistence.</a:t>
            </a:r>
          </a:p>
          <a:p>
            <a:pPr>
              <a:spcAft>
                <a:spcPts val="1600"/>
              </a:spcAft>
              <a:defRPr sz="2100">
                <a:solidFill>
                  <a:srgbClr val="172C29"/>
                </a:solidFill>
                <a:latin typeface="Aptos"/>
              </a:defRPr>
            </a:pPr>
            <a:r>
              <a:t>- Optional Docker Compose: notebook and batch services using the same local code.</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Initial dependency installation needs Internet; the installed synthetic-data workflow does not.</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06 / 20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System Architecture and Data Flow</a:t>
            </a:r>
          </a:p>
        </p:txBody>
      </p:sp>
      <p:sp>
        <p:nvSpPr>
          <p:cNvPr id="5" name="Rectangle 4"/>
          <p:cNvSpPr/>
          <p:nvPr/>
        </p:nvSpPr>
        <p:spPr>
          <a:xfrm>
            <a:off x="621792" y="2286000"/>
            <a:ext cx="2011680" cy="1828800"/>
          </a:xfrm>
          <a:prstGeom prst="rect">
            <a:avLst/>
          </a:prstGeom>
          <a:solidFill>
            <a:srgbClr val="EA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2514600"/>
            <a:ext cx="1792224" cy="365760"/>
          </a:xfrm>
          <a:prstGeom prst="rect">
            <a:avLst/>
          </a:prstGeom>
          <a:noFill/>
        </p:spPr>
        <p:txBody>
          <a:bodyPr wrap="square" lIns="9144" rIns="9144" tIns="9144" bIns="9144">
            <a:spAutoFit/>
          </a:bodyPr>
          <a:lstStyle/>
          <a:p>
            <a:pPr>
              <a:defRPr sz="1400" b="1">
                <a:solidFill>
                  <a:srgbClr val="167464"/>
                </a:solidFill>
                <a:latin typeface="Aptos"/>
              </a:defRPr>
            </a:pPr>
            <a:r>
              <a:t>01  INPUT</a:t>
            </a:r>
          </a:p>
        </p:txBody>
      </p:sp>
      <p:sp>
        <p:nvSpPr>
          <p:cNvPr id="7" name="TextBox 6"/>
          <p:cNvSpPr txBox="1"/>
          <p:nvPr/>
        </p:nvSpPr>
        <p:spPr>
          <a:xfrm>
            <a:off x="731520" y="3017520"/>
            <a:ext cx="1792224" cy="868680"/>
          </a:xfrm>
          <a:prstGeom prst="rect">
            <a:avLst/>
          </a:prstGeom>
          <a:noFill/>
        </p:spPr>
        <p:txBody>
          <a:bodyPr wrap="square" lIns="9144" rIns="9144" tIns="9144" bIns="9144">
            <a:spAutoFit/>
          </a:bodyPr>
          <a:lstStyle/>
          <a:p>
            <a:pPr>
              <a:defRPr sz="1800" b="0">
                <a:solidFill>
                  <a:srgbClr val="172C29"/>
                </a:solidFill>
                <a:latin typeface="Aptos"/>
              </a:defRPr>
            </a:pPr>
            <a:r>
              <a:t>Bank CSVs</a:t>
            </a:r>
            <a:br/>
            <a:r>
              <a:t>Receipt JSON</a:t>
            </a:r>
          </a:p>
        </p:txBody>
      </p:sp>
      <p:sp>
        <p:nvSpPr>
          <p:cNvPr id="8" name="Chevron 7"/>
          <p:cNvSpPr/>
          <p:nvPr/>
        </p:nvSpPr>
        <p:spPr>
          <a:xfrm>
            <a:off x="2660904" y="3017520"/>
            <a:ext cx="146304" cy="274320"/>
          </a:xfrm>
          <a:prstGeom prst="chevron">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834640" y="2286000"/>
            <a:ext cx="2011680" cy="1828800"/>
          </a:xfrm>
          <a:prstGeom prst="rect">
            <a:avLst/>
          </a:prstGeom>
          <a:solidFill>
            <a:srgbClr val="EA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944368" y="2514600"/>
            <a:ext cx="1792224" cy="365760"/>
          </a:xfrm>
          <a:prstGeom prst="rect">
            <a:avLst/>
          </a:prstGeom>
          <a:noFill/>
        </p:spPr>
        <p:txBody>
          <a:bodyPr wrap="square" lIns="9144" rIns="9144" tIns="9144" bIns="9144">
            <a:spAutoFit/>
          </a:bodyPr>
          <a:lstStyle/>
          <a:p>
            <a:pPr>
              <a:defRPr sz="1400" b="1">
                <a:solidFill>
                  <a:srgbClr val="167464"/>
                </a:solidFill>
                <a:latin typeface="Aptos"/>
              </a:defRPr>
            </a:pPr>
            <a:r>
              <a:t>02  PREPARE</a:t>
            </a:r>
          </a:p>
        </p:txBody>
      </p:sp>
      <p:sp>
        <p:nvSpPr>
          <p:cNvPr id="11" name="TextBox 10"/>
          <p:cNvSpPr txBox="1"/>
          <p:nvPr/>
        </p:nvSpPr>
        <p:spPr>
          <a:xfrm>
            <a:off x="2944368" y="3017520"/>
            <a:ext cx="1792224" cy="868680"/>
          </a:xfrm>
          <a:prstGeom prst="rect">
            <a:avLst/>
          </a:prstGeom>
          <a:noFill/>
        </p:spPr>
        <p:txBody>
          <a:bodyPr wrap="square" lIns="9144" rIns="9144" tIns="9144" bIns="9144">
            <a:spAutoFit/>
          </a:bodyPr>
          <a:lstStyle/>
          <a:p>
            <a:pPr>
              <a:defRPr sz="1800" b="0">
                <a:solidFill>
                  <a:srgbClr val="172C29"/>
                </a:solidFill>
                <a:latin typeface="Aptos"/>
              </a:defRPr>
            </a:pPr>
            <a:r>
              <a:t>Clean records</a:t>
            </a:r>
            <a:br/>
            <a:r>
              <a:t>Quality audit</a:t>
            </a:r>
          </a:p>
        </p:txBody>
      </p:sp>
      <p:sp>
        <p:nvSpPr>
          <p:cNvPr id="12" name="Chevron 11"/>
          <p:cNvSpPr/>
          <p:nvPr/>
        </p:nvSpPr>
        <p:spPr>
          <a:xfrm>
            <a:off x="4873752" y="3017520"/>
            <a:ext cx="146304" cy="274320"/>
          </a:xfrm>
          <a:prstGeom prst="chevron">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47488" y="2286000"/>
            <a:ext cx="2011680" cy="1828800"/>
          </a:xfrm>
          <a:prstGeom prst="rect">
            <a:avLst/>
          </a:prstGeom>
          <a:solidFill>
            <a:srgbClr val="EA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57216" y="2514600"/>
            <a:ext cx="1792224" cy="365760"/>
          </a:xfrm>
          <a:prstGeom prst="rect">
            <a:avLst/>
          </a:prstGeom>
          <a:noFill/>
        </p:spPr>
        <p:txBody>
          <a:bodyPr wrap="square" lIns="9144" rIns="9144" tIns="9144" bIns="9144">
            <a:spAutoFit/>
          </a:bodyPr>
          <a:lstStyle/>
          <a:p>
            <a:pPr>
              <a:defRPr sz="1400" b="1">
                <a:solidFill>
                  <a:srgbClr val="167464"/>
                </a:solidFill>
                <a:latin typeface="Aptos"/>
              </a:defRPr>
            </a:pPr>
            <a:r>
              <a:t>03  STORE</a:t>
            </a:r>
          </a:p>
        </p:txBody>
      </p:sp>
      <p:sp>
        <p:nvSpPr>
          <p:cNvPr id="15" name="TextBox 14"/>
          <p:cNvSpPr txBox="1"/>
          <p:nvPr/>
        </p:nvSpPr>
        <p:spPr>
          <a:xfrm>
            <a:off x="5157216" y="3017520"/>
            <a:ext cx="1792224" cy="868680"/>
          </a:xfrm>
          <a:prstGeom prst="rect">
            <a:avLst/>
          </a:prstGeom>
          <a:noFill/>
        </p:spPr>
        <p:txBody>
          <a:bodyPr wrap="square" lIns="9144" rIns="9144" tIns="9144" bIns="9144">
            <a:spAutoFit/>
          </a:bodyPr>
          <a:lstStyle/>
          <a:p>
            <a:pPr>
              <a:defRPr sz="1800" b="0">
                <a:solidFill>
                  <a:srgbClr val="172C29"/>
                </a:solidFill>
                <a:latin typeface="Aptos"/>
              </a:defRPr>
            </a:pPr>
            <a:r>
              <a:t>SQLite JSON</a:t>
            </a:r>
            <a:br/>
            <a:r>
              <a:t>Pandas mart</a:t>
            </a:r>
          </a:p>
        </p:txBody>
      </p:sp>
      <p:sp>
        <p:nvSpPr>
          <p:cNvPr id="16" name="Chevron 15"/>
          <p:cNvSpPr/>
          <p:nvPr/>
        </p:nvSpPr>
        <p:spPr>
          <a:xfrm>
            <a:off x="7086600" y="3017520"/>
            <a:ext cx="146304" cy="274320"/>
          </a:xfrm>
          <a:prstGeom prst="chevron">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260336" y="2286000"/>
            <a:ext cx="2011680" cy="1828800"/>
          </a:xfrm>
          <a:prstGeom prst="rect">
            <a:avLst/>
          </a:prstGeom>
          <a:solidFill>
            <a:srgbClr val="EA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370063" y="2514600"/>
            <a:ext cx="1792224" cy="365760"/>
          </a:xfrm>
          <a:prstGeom prst="rect">
            <a:avLst/>
          </a:prstGeom>
          <a:noFill/>
        </p:spPr>
        <p:txBody>
          <a:bodyPr wrap="square" lIns="9144" rIns="9144" tIns="9144" bIns="9144">
            <a:spAutoFit/>
          </a:bodyPr>
          <a:lstStyle/>
          <a:p>
            <a:pPr>
              <a:defRPr sz="1400" b="1">
                <a:solidFill>
                  <a:srgbClr val="167464"/>
                </a:solidFill>
                <a:latin typeface="Aptos"/>
              </a:defRPr>
            </a:pPr>
            <a:r>
              <a:t>04  EVALUATE</a:t>
            </a:r>
          </a:p>
        </p:txBody>
      </p:sp>
      <p:sp>
        <p:nvSpPr>
          <p:cNvPr id="19" name="TextBox 18"/>
          <p:cNvSpPr txBox="1"/>
          <p:nvPr/>
        </p:nvSpPr>
        <p:spPr>
          <a:xfrm>
            <a:off x="7370063" y="3017520"/>
            <a:ext cx="1792224" cy="868680"/>
          </a:xfrm>
          <a:prstGeom prst="rect">
            <a:avLst/>
          </a:prstGeom>
          <a:noFill/>
        </p:spPr>
        <p:txBody>
          <a:bodyPr wrap="square" lIns="9144" rIns="9144" tIns="9144" bIns="9144">
            <a:spAutoFit/>
          </a:bodyPr>
          <a:lstStyle/>
          <a:p>
            <a:pPr>
              <a:defRPr sz="1800" b="0">
                <a:solidFill>
                  <a:srgbClr val="172C29"/>
                </a:solidFill>
                <a:latin typeface="Aptos"/>
              </a:defRPr>
            </a:pPr>
            <a:r>
              <a:t>Categorization</a:t>
            </a:r>
            <a:br/>
            <a:r>
              <a:t>Anomalies / forecast</a:t>
            </a:r>
          </a:p>
        </p:txBody>
      </p:sp>
      <p:sp>
        <p:nvSpPr>
          <p:cNvPr id="20" name="Chevron 19"/>
          <p:cNvSpPr/>
          <p:nvPr/>
        </p:nvSpPr>
        <p:spPr>
          <a:xfrm>
            <a:off x="9299448" y="3017520"/>
            <a:ext cx="146304" cy="274320"/>
          </a:xfrm>
          <a:prstGeom prst="chevron">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9473184" y="2286000"/>
            <a:ext cx="2011680" cy="1828800"/>
          </a:xfrm>
          <a:prstGeom prst="rect">
            <a:avLst/>
          </a:prstGeom>
          <a:solidFill>
            <a:srgbClr val="EAF3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582911" y="2514600"/>
            <a:ext cx="1792224" cy="365760"/>
          </a:xfrm>
          <a:prstGeom prst="rect">
            <a:avLst/>
          </a:prstGeom>
          <a:noFill/>
        </p:spPr>
        <p:txBody>
          <a:bodyPr wrap="square" lIns="9144" rIns="9144" tIns="9144" bIns="9144">
            <a:spAutoFit/>
          </a:bodyPr>
          <a:lstStyle/>
          <a:p>
            <a:pPr>
              <a:defRPr sz="1400" b="1">
                <a:solidFill>
                  <a:srgbClr val="167464"/>
                </a:solidFill>
                <a:latin typeface="Aptos"/>
              </a:defRPr>
            </a:pPr>
            <a:r>
              <a:t>05  PRESENT</a:t>
            </a:r>
          </a:p>
        </p:txBody>
      </p:sp>
      <p:sp>
        <p:nvSpPr>
          <p:cNvPr id="23" name="TextBox 22"/>
          <p:cNvSpPr txBox="1"/>
          <p:nvPr/>
        </p:nvSpPr>
        <p:spPr>
          <a:xfrm>
            <a:off x="9582911" y="3017520"/>
            <a:ext cx="1792224" cy="868680"/>
          </a:xfrm>
          <a:prstGeom prst="rect">
            <a:avLst/>
          </a:prstGeom>
          <a:noFill/>
        </p:spPr>
        <p:txBody>
          <a:bodyPr wrap="square" lIns="9144" rIns="9144" tIns="9144" bIns="9144">
            <a:spAutoFit/>
          </a:bodyPr>
          <a:lstStyle/>
          <a:p>
            <a:pPr>
              <a:defRPr sz="1800" b="0">
                <a:solidFill>
                  <a:srgbClr val="172C29"/>
                </a:solidFill>
                <a:latin typeface="Aptos"/>
              </a:defRPr>
            </a:pPr>
            <a:r>
              <a:t>Jupyter controls</a:t>
            </a:r>
            <a:br/>
            <a:r>
              <a:t>Local reports</a:t>
            </a:r>
          </a:p>
        </p:txBody>
      </p:sp>
      <p:sp>
        <p:nvSpPr>
          <p:cNvPr id="24" name="TextBox 23"/>
          <p:cNvSpPr txBox="1"/>
          <p:nvPr/>
        </p:nvSpPr>
        <p:spPr>
          <a:xfrm>
            <a:off x="621792" y="4709160"/>
            <a:ext cx="10927080" cy="731520"/>
          </a:xfrm>
          <a:prstGeom prst="rect">
            <a:avLst/>
          </a:prstGeom>
          <a:noFill/>
        </p:spPr>
        <p:txBody>
          <a:bodyPr wrap="square" lIns="9144" rIns="9144" tIns="9144" bIns="9144">
            <a:spAutoFit/>
          </a:bodyPr>
          <a:lstStyle/>
          <a:p>
            <a:pPr>
              <a:defRPr sz="2200" b="0">
                <a:solidFill>
                  <a:srgbClr val="172C29"/>
                </a:solidFill>
                <a:latin typeface="Aptos"/>
              </a:defRPr>
            </a:pPr>
            <a:r>
              <a:t>One shared pipeline, invoked from Jupyter, the local CLI, or Docker batch.</a:t>
            </a:r>
          </a:p>
        </p:txBody>
      </p:sp>
      <p:sp>
        <p:nvSpPr>
          <p:cNvPr id="25" name="TextBox 24"/>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Local data/ and outputs/ directories remain on the host when using Docker bind mounts.</a:t>
            </a:r>
          </a:p>
        </p:txBody>
      </p:sp>
      <p:sp>
        <p:nvSpPr>
          <p:cNvPr id="26" name="TextBox 25"/>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27" name="TextBox 26"/>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07 / 20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Dataset and Data Dictionary</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1800">
                <a:solidFill>
                  <a:srgbClr val="172C29"/>
                </a:solidFill>
                <a:latin typeface="Aptos"/>
              </a:defRPr>
            </a:pPr>
            <a:r>
              <a:t>- Synthetic calendar: January 2020 to December 2024; seed 42.</a:t>
            </a:r>
          </a:p>
          <a:p>
            <a:pPr>
              <a:spcAft>
                <a:spcPts val="1600"/>
              </a:spcAft>
              <a:defRPr sz="1800">
                <a:solidFill>
                  <a:srgbClr val="172C29"/>
                </a:solidFill>
                <a:latin typeface="Aptos"/>
              </a:defRPr>
            </a:pPr>
            <a:r>
              <a:t>- Raw data deliberately includes quality problems to make preprocessing observable.</a:t>
            </a:r>
          </a:p>
        </p:txBody>
      </p:sp>
      <p:graphicFrame>
        <p:nvGraphicFramePr>
          <p:cNvPr id="6" name="Table 5"/>
          <p:cNvGraphicFramePr>
            <a:graphicFrameLocks noGrp="1"/>
          </p:cNvGraphicFramePr>
          <p:nvPr/>
        </p:nvGraphicFramePr>
        <p:xfrm>
          <a:off x="621792" y="2788920"/>
          <a:ext cx="10927080" cy="2926080"/>
        </p:xfrm>
        <a:graphic>
          <a:graphicData uri="http://schemas.openxmlformats.org/drawingml/2006/table">
            <a:tbl>
              <a:tblPr firstRow="1" bandRow="1">
                <a:tableStyleId>{5C22544A-7EE6-4342-B048-85BDC9FD1C3A}</a:tableStyleId>
              </a:tblPr>
              <a:tblGrid>
                <a:gridCol w="5463540"/>
                <a:gridCol w="5463540"/>
              </a:tblGrid>
              <a:tr h="487680">
                <a:tc>
                  <a:txBody>
                    <a:bodyPr/>
                    <a:lstStyle/>
                    <a:p>
                      <a:pPr>
                        <a:defRPr sz="1600" b="1">
                          <a:solidFill>
                            <a:srgbClr val="FFFFFF"/>
                          </a:solidFill>
                          <a:latin typeface="Aptos"/>
                        </a:defRPr>
                      </a:pPr>
                      <a:r>
                        <a:t>Field</a:t>
                      </a:r>
                    </a:p>
                  </a:txBody>
                  <a:tcPr>
                    <a:solidFill>
                      <a:srgbClr val="167464"/>
                    </a:solidFill>
                  </a:tcPr>
                </a:tc>
                <a:tc>
                  <a:txBody>
                    <a:bodyPr/>
                    <a:lstStyle/>
                    <a:p>
                      <a:pPr>
                        <a:defRPr sz="1600" b="1">
                          <a:solidFill>
                            <a:srgbClr val="FFFFFF"/>
                          </a:solidFill>
                          <a:latin typeface="Aptos"/>
                        </a:defRPr>
                      </a:pPr>
                      <a:r>
                        <a:t>Role</a:t>
                      </a:r>
                    </a:p>
                  </a:txBody>
                  <a:tcPr>
                    <a:solidFill>
                      <a:srgbClr val="167464"/>
                    </a:solidFill>
                  </a:tcPr>
                </a:tc>
              </a:tr>
              <a:tr h="487680">
                <a:tc>
                  <a:txBody>
                    <a:bodyPr/>
                    <a:lstStyle/>
                    <a:p>
                      <a:pPr>
                        <a:defRPr sz="1600" b="0">
                          <a:solidFill>
                            <a:srgbClr val="172C29"/>
                          </a:solidFill>
                          <a:latin typeface="Aptos"/>
                        </a:defRPr>
                      </a:pPr>
                      <a:r>
                        <a:t>transaction_id</a:t>
                      </a:r>
                    </a:p>
                  </a:txBody>
                  <a:tcPr>
                    <a:solidFill>
                      <a:srgbClr val="EAF3EF"/>
                    </a:solidFill>
                  </a:tcPr>
                </a:tc>
                <a:tc>
                  <a:txBody>
                    <a:bodyPr/>
                    <a:lstStyle/>
                    <a:p>
                      <a:pPr>
                        <a:defRPr sz="1600" b="0">
                          <a:solidFill>
                            <a:srgbClr val="172C29"/>
                          </a:solidFill>
                          <a:latin typeface="Aptos"/>
                        </a:defRPr>
                      </a:pPr>
                      <a:r>
                        <a:t>Globally unique transaction key</a:t>
                      </a:r>
                    </a:p>
                  </a:txBody>
                  <a:tcPr>
                    <a:solidFill>
                      <a:srgbClr val="EAF3EF"/>
                    </a:solidFill>
                  </a:tcPr>
                </a:tc>
              </a:tr>
              <a:tr h="487680">
                <a:tc>
                  <a:txBody>
                    <a:bodyPr/>
                    <a:lstStyle/>
                    <a:p>
                      <a:pPr>
                        <a:defRPr sz="1600" b="0">
                          <a:solidFill>
                            <a:srgbClr val="172C29"/>
                          </a:solidFill>
                          <a:latin typeface="Aptos"/>
                        </a:defRPr>
                      </a:pPr>
                      <a:r>
                        <a:t>date / description</a:t>
                      </a:r>
                    </a:p>
                  </a:txBody>
                  <a:tcPr>
                    <a:solidFill>
                      <a:srgbClr val="FFFFFF"/>
                    </a:solidFill>
                  </a:tcPr>
                </a:tc>
                <a:tc>
                  <a:txBody>
                    <a:bodyPr/>
                    <a:lstStyle/>
                    <a:p>
                      <a:pPr>
                        <a:defRPr sz="1600" b="0">
                          <a:solidFill>
                            <a:srgbClr val="172C29"/>
                          </a:solidFill>
                          <a:latin typeface="Aptos"/>
                        </a:defRPr>
                      </a:pPr>
                      <a:r>
                        <a:t>Timestamp and merchant text</a:t>
                      </a:r>
                    </a:p>
                  </a:txBody>
                  <a:tcPr>
                    <a:solidFill>
                      <a:srgbClr val="FFFFFF"/>
                    </a:solidFill>
                  </a:tcPr>
                </a:tc>
              </a:tr>
              <a:tr h="487680">
                <a:tc>
                  <a:txBody>
                    <a:bodyPr/>
                    <a:lstStyle/>
                    <a:p>
                      <a:pPr>
                        <a:defRPr sz="1600" b="0">
                          <a:solidFill>
                            <a:srgbClr val="172C29"/>
                          </a:solidFill>
                          <a:latin typeface="Aptos"/>
                        </a:defRPr>
                      </a:pPr>
                      <a:r>
                        <a:t>amount / currency</a:t>
                      </a:r>
                    </a:p>
                  </a:txBody>
                  <a:tcPr>
                    <a:solidFill>
                      <a:srgbClr val="EAF3EF"/>
                    </a:solidFill>
                  </a:tcPr>
                </a:tc>
                <a:tc>
                  <a:txBody>
                    <a:bodyPr/>
                    <a:lstStyle/>
                    <a:p>
                      <a:pPr>
                        <a:defRPr sz="1600" b="0">
                          <a:solidFill>
                            <a:srgbClr val="172C29"/>
                          </a:solidFill>
                          <a:latin typeface="Aptos"/>
                        </a:defRPr>
                      </a:pPr>
                      <a:r>
                        <a:t>Signed amount and single-currency validation</a:t>
                      </a:r>
                    </a:p>
                  </a:txBody>
                  <a:tcPr>
                    <a:solidFill>
                      <a:srgbClr val="EAF3EF"/>
                    </a:solidFill>
                  </a:tcPr>
                </a:tc>
              </a:tr>
              <a:tr h="487680">
                <a:tc>
                  <a:txBody>
                    <a:bodyPr/>
                    <a:lstStyle/>
                    <a:p>
                      <a:pPr>
                        <a:defRPr sz="1600" b="0">
                          <a:solidFill>
                            <a:srgbClr val="172C29"/>
                          </a:solidFill>
                          <a:latin typeface="Aptos"/>
                        </a:defRPr>
                      </a:pPr>
                      <a:r>
                        <a:t>category</a:t>
                      </a:r>
                    </a:p>
                  </a:txBody>
                  <a:tcPr>
                    <a:solidFill>
                      <a:srgbClr val="FFFFFF"/>
                    </a:solidFill>
                  </a:tcPr>
                </a:tc>
                <a:tc>
                  <a:txBody>
                    <a:bodyPr/>
                    <a:lstStyle/>
                    <a:p>
                      <a:pPr>
                        <a:defRPr sz="1600" b="0">
                          <a:solidFill>
                            <a:srgbClr val="172C29"/>
                          </a:solidFill>
                          <a:latin typeface="Aptos"/>
                        </a:defRPr>
                      </a:pPr>
                      <a:r>
                        <a:t>Recorded label for supervised evaluation</a:t>
                      </a:r>
                    </a:p>
                  </a:txBody>
                  <a:tcPr>
                    <a:solidFill>
                      <a:srgbClr val="FFFFFF"/>
                    </a:solidFill>
                  </a:tcPr>
                </a:tc>
              </a:tr>
              <a:tr h="487680">
                <a:tc>
                  <a:txBody>
                    <a:bodyPr/>
                    <a:lstStyle/>
                    <a:p>
                      <a:pPr>
                        <a:defRPr sz="1600" b="0">
                          <a:solidFill>
                            <a:srgbClr val="172C29"/>
                          </a:solidFill>
                          <a:latin typeface="Aptos"/>
                        </a:defRPr>
                      </a:pPr>
                      <a:r>
                        <a:t>receipt / anomaly label</a:t>
                      </a:r>
                    </a:p>
                  </a:txBody>
                  <a:tcPr>
                    <a:solidFill>
                      <a:srgbClr val="EAF3EF"/>
                    </a:solidFill>
                  </a:tcPr>
                </a:tc>
                <a:tc>
                  <a:txBody>
                    <a:bodyPr/>
                    <a:lstStyle/>
                    <a:p>
                      <a:pPr>
                        <a:defRPr sz="1600" b="0">
                          <a:solidFill>
                            <a:srgbClr val="172C29"/>
                          </a:solidFill>
                          <a:latin typeface="Aptos"/>
                        </a:defRPr>
                      </a:pPr>
                      <a:r>
                        <a:t>Nested enrichment / synthetic evaluation only</a:t>
                      </a:r>
                    </a:p>
                  </a:txBody>
                  <a:tcPr>
                    <a:solidFill>
                      <a:srgbClr val="EAF3EF"/>
                    </a:solidFill>
                  </a:tcPr>
                </a:tc>
              </a:tr>
            </a:tbl>
          </a:graphicData>
        </a:graphic>
      </p:graphicFrame>
      <p:sp>
        <p:nvSpPr>
          <p:cNvPr id="7" name="TextBox 6"/>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Synthetic anomaly labels are never used as model features.</a:t>
            </a:r>
          </a:p>
        </p:txBody>
      </p:sp>
      <p:sp>
        <p:nvSpPr>
          <p:cNvPr id="8" name="TextBox 7"/>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9" name="TextBox 8"/>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08 / 20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Preprocessing and Data-Quality Audit</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1800">
                <a:solidFill>
                  <a:srgbClr val="172C29"/>
                </a:solidFill>
                <a:latin typeface="Aptos"/>
              </a:defRPr>
            </a:pPr>
            <a:r>
              <a:t>- Normalize timestamps to UTC, validate amounts and currency, remove duplicate IDs, and fill missing merchant descriptions.</a:t>
            </a:r>
          </a:p>
          <a:p>
            <a:pPr>
              <a:spcAft>
                <a:spcPts val="1600"/>
              </a:spcAft>
              <a:defRPr sz="1800">
                <a:solidFill>
                  <a:srgbClr val="172C29"/>
                </a:solidFill>
                <a:latin typeface="Aptos"/>
              </a:defRPr>
            </a:pPr>
            <a:r>
              <a:t>- Conflicting dates or amounts under one ID and mixed currencies are rejected explicitly.</a:t>
            </a:r>
          </a:p>
        </p:txBody>
      </p:sp>
      <p:graphicFrame>
        <p:nvGraphicFramePr>
          <p:cNvPr id="6" name="Table 5"/>
          <p:cNvGraphicFramePr>
            <a:graphicFrameLocks noGrp="1"/>
          </p:cNvGraphicFramePr>
          <p:nvPr/>
        </p:nvGraphicFramePr>
        <p:xfrm>
          <a:off x="621792" y="2788920"/>
          <a:ext cx="10927080" cy="2926080"/>
        </p:xfrm>
        <a:graphic>
          <a:graphicData uri="http://schemas.openxmlformats.org/drawingml/2006/table">
            <a:tbl>
              <a:tblPr firstRow="1" bandRow="1">
                <a:tableStyleId>{5C22544A-7EE6-4342-B048-85BDC9FD1C3A}</a:tableStyleId>
              </a:tblPr>
              <a:tblGrid>
                <a:gridCol w="5463540"/>
                <a:gridCol w="5463540"/>
              </a:tblGrid>
              <a:tr h="487680">
                <a:tc>
                  <a:txBody>
                    <a:bodyPr/>
                    <a:lstStyle/>
                    <a:p>
                      <a:pPr>
                        <a:defRPr sz="1600" b="1">
                          <a:solidFill>
                            <a:srgbClr val="FFFFFF"/>
                          </a:solidFill>
                          <a:latin typeface="Aptos"/>
                        </a:defRPr>
                      </a:pPr>
                      <a:r>
                        <a:t>Audit measure</a:t>
                      </a:r>
                    </a:p>
                  </a:txBody>
                  <a:tcPr>
                    <a:solidFill>
                      <a:srgbClr val="167464"/>
                    </a:solidFill>
                  </a:tcPr>
                </a:tc>
                <a:tc>
                  <a:txBody>
                    <a:bodyPr/>
                    <a:lstStyle/>
                    <a:p>
                      <a:pPr>
                        <a:defRPr sz="1600" b="1">
                          <a:solidFill>
                            <a:srgbClr val="FFFFFF"/>
                          </a:solidFill>
                          <a:latin typeface="Aptos"/>
                        </a:defRPr>
                      </a:pPr>
                      <a:r>
                        <a:t>Observed value</a:t>
                      </a:r>
                    </a:p>
                  </a:txBody>
                  <a:tcPr>
                    <a:solidFill>
                      <a:srgbClr val="167464"/>
                    </a:solidFill>
                  </a:tcPr>
                </a:tc>
              </a:tr>
              <a:tr h="487680">
                <a:tc>
                  <a:txBody>
                    <a:bodyPr/>
                    <a:lstStyle/>
                    <a:p>
                      <a:pPr>
                        <a:defRPr sz="1600" b="0">
                          <a:solidFill>
                            <a:srgbClr val="172C29"/>
                          </a:solidFill>
                          <a:latin typeface="Aptos"/>
                        </a:defRPr>
                      </a:pPr>
                      <a:r>
                        <a:t>Raw input rows</a:t>
                      </a:r>
                    </a:p>
                  </a:txBody>
                  <a:tcPr>
                    <a:solidFill>
                      <a:srgbClr val="EAF3EF"/>
                    </a:solidFill>
                  </a:tcPr>
                </a:tc>
                <a:tc>
                  <a:txBody>
                    <a:bodyPr/>
                    <a:lstStyle/>
                    <a:p>
                      <a:pPr>
                        <a:defRPr sz="1600" b="0">
                          <a:solidFill>
                            <a:srgbClr val="172C29"/>
                          </a:solidFill>
                          <a:latin typeface="Aptos"/>
                        </a:defRPr>
                      </a:pPr>
                      <a:r>
                        <a:t>4,333</a:t>
                      </a:r>
                    </a:p>
                  </a:txBody>
                  <a:tcPr>
                    <a:solidFill>
                      <a:srgbClr val="EAF3EF"/>
                    </a:solidFill>
                  </a:tcPr>
                </a:tc>
              </a:tr>
              <a:tr h="487680">
                <a:tc>
                  <a:txBody>
                    <a:bodyPr/>
                    <a:lstStyle/>
                    <a:p>
                      <a:pPr>
                        <a:defRPr sz="1600" b="0">
                          <a:solidFill>
                            <a:srgbClr val="172C29"/>
                          </a:solidFill>
                          <a:latin typeface="Aptos"/>
                        </a:defRPr>
                      </a:pPr>
                      <a:r>
                        <a:t>Invalid rows rejected</a:t>
                      </a:r>
                    </a:p>
                  </a:txBody>
                  <a:tcPr>
                    <a:solidFill>
                      <a:srgbClr val="FFFFFF"/>
                    </a:solidFill>
                  </a:tcPr>
                </a:tc>
                <a:tc>
                  <a:txBody>
                    <a:bodyPr/>
                    <a:lstStyle/>
                    <a:p>
                      <a:pPr>
                        <a:defRPr sz="1600" b="0">
                          <a:solidFill>
                            <a:srgbClr val="172C29"/>
                          </a:solidFill>
                          <a:latin typeface="Aptos"/>
                        </a:defRPr>
                      </a:pPr>
                      <a:r>
                        <a:t>1</a:t>
                      </a:r>
                    </a:p>
                  </a:txBody>
                  <a:tcPr>
                    <a:solidFill>
                      <a:srgbClr val="FFFFFF"/>
                    </a:solidFill>
                  </a:tcPr>
                </a:tc>
              </a:tr>
              <a:tr h="487680">
                <a:tc>
                  <a:txBody>
                    <a:bodyPr/>
                    <a:lstStyle/>
                    <a:p>
                      <a:pPr>
                        <a:defRPr sz="1600" b="0">
                          <a:solidFill>
                            <a:srgbClr val="172C29"/>
                          </a:solidFill>
                          <a:latin typeface="Aptos"/>
                        </a:defRPr>
                      </a:pPr>
                      <a:r>
                        <a:t>Duplicate transaction IDs removed</a:t>
                      </a:r>
                    </a:p>
                  </a:txBody>
                  <a:tcPr>
                    <a:solidFill>
                      <a:srgbClr val="EAF3EF"/>
                    </a:solidFill>
                  </a:tcPr>
                </a:tc>
                <a:tc>
                  <a:txBody>
                    <a:bodyPr/>
                    <a:lstStyle/>
                    <a:p>
                      <a:pPr>
                        <a:defRPr sz="1600" b="0">
                          <a:solidFill>
                            <a:srgbClr val="172C29"/>
                          </a:solidFill>
                          <a:latin typeface="Aptos"/>
                        </a:defRPr>
                      </a:pPr>
                      <a:r>
                        <a:t>12</a:t>
                      </a:r>
                    </a:p>
                  </a:txBody>
                  <a:tcPr>
                    <a:solidFill>
                      <a:srgbClr val="EAF3EF"/>
                    </a:solidFill>
                  </a:tcPr>
                </a:tc>
              </a:tr>
              <a:tr h="487680">
                <a:tc>
                  <a:txBody>
                    <a:bodyPr/>
                    <a:lstStyle/>
                    <a:p>
                      <a:pPr>
                        <a:defRPr sz="1600" b="0">
                          <a:solidFill>
                            <a:srgbClr val="172C29"/>
                          </a:solidFill>
                          <a:latin typeface="Aptos"/>
                        </a:defRPr>
                      </a:pPr>
                      <a:r>
                        <a:t>Missing descriptions filled</a:t>
                      </a:r>
                    </a:p>
                  </a:txBody>
                  <a:tcPr>
                    <a:solidFill>
                      <a:srgbClr val="FFFFFF"/>
                    </a:solidFill>
                  </a:tcPr>
                </a:tc>
                <a:tc>
                  <a:txBody>
                    <a:bodyPr/>
                    <a:lstStyle/>
                    <a:p>
                      <a:pPr>
                        <a:defRPr sz="1600" b="0">
                          <a:solidFill>
                            <a:srgbClr val="172C29"/>
                          </a:solidFill>
                          <a:latin typeface="Aptos"/>
                        </a:defRPr>
                      </a:pPr>
                      <a:r>
                        <a:t>43</a:t>
                      </a:r>
                    </a:p>
                  </a:txBody>
                  <a:tcPr>
                    <a:solidFill>
                      <a:srgbClr val="FFFFFF"/>
                    </a:solidFill>
                  </a:tcPr>
                </a:tc>
              </a:tr>
              <a:tr h="487680">
                <a:tc>
                  <a:txBody>
                    <a:bodyPr/>
                    <a:lstStyle/>
                    <a:p>
                      <a:pPr>
                        <a:defRPr sz="1600" b="0">
                          <a:solidFill>
                            <a:srgbClr val="172C29"/>
                          </a:solidFill>
                          <a:latin typeface="Aptos"/>
                        </a:defRPr>
                      </a:pPr>
                      <a:r>
                        <a:t>Clean transactions / matched receipt</a:t>
                      </a:r>
                    </a:p>
                  </a:txBody>
                  <a:tcPr>
                    <a:solidFill>
                      <a:srgbClr val="EAF3EF"/>
                    </a:solidFill>
                  </a:tcPr>
                </a:tc>
                <a:tc>
                  <a:txBody>
                    <a:bodyPr/>
                    <a:lstStyle/>
                    <a:p>
                      <a:pPr>
                        <a:defRPr sz="1600" b="0">
                          <a:solidFill>
                            <a:srgbClr val="172C29"/>
                          </a:solidFill>
                          <a:latin typeface="Aptos"/>
                        </a:defRPr>
                      </a:pPr>
                      <a:r>
                        <a:t>4,320 / 1</a:t>
                      </a:r>
                    </a:p>
                  </a:txBody>
                  <a:tcPr>
                    <a:solidFill>
                      <a:srgbClr val="EAF3EF"/>
                    </a:solidFill>
                  </a:tcPr>
                </a:tc>
              </a:tr>
            </a:tbl>
          </a:graphicData>
        </a:graphic>
      </p:graphicFrame>
      <p:sp>
        <p:nvSpPr>
          <p:cNvPr id="7" name="TextBox 6"/>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A receipt enriches an existing bank transaction; it does not create another expense.</a:t>
            </a:r>
          </a:p>
        </p:txBody>
      </p:sp>
      <p:sp>
        <p:nvSpPr>
          <p:cNvPr id="8" name="TextBox 7"/>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9" name="TextBox 8"/>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09 / 20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Exploratory Analysis and Cash Flow</a:t>
            </a:r>
          </a:p>
        </p:txBody>
      </p:sp>
      <p:sp>
        <p:nvSpPr>
          <p:cNvPr id="5" name="TextBox 4"/>
          <p:cNvSpPr txBox="1"/>
          <p:nvPr/>
        </p:nvSpPr>
        <p:spPr>
          <a:xfrm>
            <a:off x="621792" y="1645920"/>
            <a:ext cx="3611880" cy="4206240"/>
          </a:xfrm>
          <a:prstGeom prst="rect">
            <a:avLst/>
          </a:prstGeom>
          <a:noFill/>
        </p:spPr>
        <p:txBody>
          <a:bodyPr wrap="square" lIns="0" rIns="0" tIns="0" bIns="0">
            <a:spAutoFit/>
          </a:bodyPr>
          <a:lstStyle/>
          <a:p>
            <a:pPr>
              <a:spcAft>
                <a:spcPts val="1300"/>
              </a:spcAft>
              <a:defRPr sz="1800">
                <a:solidFill>
                  <a:srgbClr val="172C29"/>
                </a:solidFill>
                <a:latin typeface="Aptos"/>
              </a:defRPr>
            </a:pPr>
            <a:r>
              <a:t>- Inspect monthly income, expenses, category totals, and cumulative net cash flow.</a:t>
            </a:r>
          </a:p>
          <a:p>
            <a:pPr>
              <a:spcAft>
                <a:spcPts val="1300"/>
              </a:spcAft>
              <a:defRPr sz="1800">
                <a:solidFill>
                  <a:srgbClr val="172C29"/>
                </a:solidFill>
                <a:latin typeface="Aptos"/>
              </a:defRPr>
            </a:pPr>
            <a:r>
              <a:t>- Reconcile monthly net cash flow with the sum of transaction amounts.</a:t>
            </a:r>
          </a:p>
          <a:p>
            <a:pPr>
              <a:spcAft>
                <a:spcPts val="1300"/>
              </a:spcAft>
              <a:defRPr sz="1800">
                <a:solidFill>
                  <a:srgbClr val="172C29"/>
                </a:solidFill>
                <a:latin typeface="Aptos"/>
              </a:defRPr>
            </a:pPr>
            <a:r>
              <a:t>- Use the overview and category heatmap to discuss trends and unusual periods.</a:t>
            </a:r>
          </a:p>
        </p:txBody>
      </p:sp>
      <p:pic>
        <p:nvPicPr>
          <p:cNvPr id="6" name="Picture 5" descr="overview.png"/>
          <p:cNvPicPr>
            <a:picLocks noChangeAspect="1"/>
          </p:cNvPicPr>
          <p:nvPr/>
        </p:nvPicPr>
        <p:blipFill>
          <a:blip r:embed="rId2"/>
          <a:stretch>
            <a:fillRect/>
          </a:stretch>
        </p:blipFill>
        <p:spPr>
          <a:xfrm>
            <a:off x="4824714" y="1691640"/>
            <a:ext cx="6444010" cy="4160520"/>
          </a:xfrm>
          <a:prstGeom prst="rect">
            <a:avLst/>
          </a:prstGeom>
        </p:spPr>
      </p:pic>
      <p:sp>
        <p:nvSpPr>
          <p:cNvPr id="7" name="TextBox 6"/>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Cumulative net cash flow is not an account balance: the opening balance is unknown.</a:t>
            </a:r>
          </a:p>
        </p:txBody>
      </p:sp>
      <p:sp>
        <p:nvSpPr>
          <p:cNvPr id="8" name="TextBox 7"/>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9" name="TextBox 8"/>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10 / 20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Expense Categorization</a:t>
            </a:r>
          </a:p>
        </p:txBody>
      </p:sp>
      <p:sp>
        <p:nvSpPr>
          <p:cNvPr id="5" name="TextBox 4"/>
          <p:cNvSpPr txBox="1"/>
          <p:nvPr/>
        </p:nvSpPr>
        <p:spPr>
          <a:xfrm>
            <a:off x="621792" y="1645920"/>
            <a:ext cx="3611880" cy="4206240"/>
          </a:xfrm>
          <a:prstGeom prst="rect">
            <a:avLst/>
          </a:prstGeom>
          <a:noFill/>
        </p:spPr>
        <p:txBody>
          <a:bodyPr wrap="square" lIns="0" rIns="0" tIns="0" bIns="0">
            <a:spAutoFit/>
          </a:bodyPr>
          <a:lstStyle/>
          <a:p>
            <a:pPr>
              <a:spcAft>
                <a:spcPts val="1300"/>
              </a:spcAft>
              <a:defRPr sz="1800">
                <a:solidFill>
                  <a:srgbClr val="172C29"/>
                </a:solidFill>
                <a:latin typeface="Aptos"/>
              </a:defRPr>
            </a:pPr>
            <a:r>
              <a:t>- Features: TF-IDF merchant text and standardized expense amount.</a:t>
            </a:r>
          </a:p>
          <a:p>
            <a:pPr>
              <a:spcAft>
                <a:spcPts val="1300"/>
              </a:spcAft>
              <a:defRPr sz="1800">
                <a:solidFill>
                  <a:srgbClr val="172C29"/>
                </a:solidFill>
                <a:latin typeface="Aptos"/>
              </a:defRPr>
            </a:pPr>
            <a:r>
              <a:t>- Model: Logistic Regression with preprocessing fitted only on the earlier training period.</a:t>
            </a:r>
          </a:p>
          <a:p>
            <a:pPr>
              <a:spcAft>
                <a:spcPts val="1300"/>
              </a:spcAft>
              <a:defRPr sz="1800">
                <a:solidFill>
                  <a:srgbClr val="172C29"/>
                </a:solidFill>
                <a:latin typeface="Aptos"/>
              </a:defRPr>
            </a:pPr>
            <a:r>
              <a:t>- Chronological holdout: 3,408 training expenses and 852 later test expenses.</a:t>
            </a:r>
          </a:p>
          <a:p>
            <a:pPr>
              <a:spcAft>
                <a:spcPts val="1300"/>
              </a:spcAft>
              <a:defRPr sz="1800">
                <a:solidFill>
                  <a:srgbClr val="172C29"/>
                </a:solidFill>
                <a:latin typeface="Aptos"/>
              </a:defRPr>
            </a:pPr>
            <a:r>
              <a:t>- Macro F1: 0.9872 versus majority baseline 0.0549.</a:t>
            </a:r>
          </a:p>
        </p:txBody>
      </p:sp>
      <p:pic>
        <p:nvPicPr>
          <p:cNvPr id="6" name="Picture 5" descr="classification.png"/>
          <p:cNvPicPr>
            <a:picLocks noChangeAspect="1"/>
          </p:cNvPicPr>
          <p:nvPr/>
        </p:nvPicPr>
        <p:blipFill>
          <a:blip r:embed="rId2"/>
          <a:stretch>
            <a:fillRect/>
          </a:stretch>
        </p:blipFill>
        <p:spPr>
          <a:xfrm>
            <a:off x="4749243" y="1691640"/>
            <a:ext cx="6594953" cy="4160520"/>
          </a:xfrm>
          <a:prstGeom prst="rect">
            <a:avLst/>
          </a:prstGeom>
        </p:spPr>
      </p:pic>
      <p:sp>
        <p:nvSpPr>
          <p:cNvPr id="7" name="TextBox 6"/>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No unseen merchant descriptions occur in this holdout; the result does not establish new-merchant accuracy.</a:t>
            </a:r>
          </a:p>
        </p:txBody>
      </p:sp>
      <p:sp>
        <p:nvSpPr>
          <p:cNvPr id="8" name="TextBox 7"/>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9" name="TextBox 8"/>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11 / 20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Unsupervised Anomaly Review</a:t>
            </a:r>
          </a:p>
        </p:txBody>
      </p:sp>
      <p:sp>
        <p:nvSpPr>
          <p:cNvPr id="5" name="TextBox 4"/>
          <p:cNvSpPr txBox="1"/>
          <p:nvPr/>
        </p:nvSpPr>
        <p:spPr>
          <a:xfrm>
            <a:off x="621792" y="1645920"/>
            <a:ext cx="3611880" cy="4206240"/>
          </a:xfrm>
          <a:prstGeom prst="rect">
            <a:avLst/>
          </a:prstGeom>
          <a:noFill/>
        </p:spPr>
        <p:txBody>
          <a:bodyPr wrap="square" lIns="0" rIns="0" tIns="0" bIns="0">
            <a:spAutoFit/>
          </a:bodyPr>
          <a:lstStyle/>
          <a:p>
            <a:pPr>
              <a:spcAft>
                <a:spcPts val="1300"/>
              </a:spcAft>
              <a:defRPr sz="1800">
                <a:solidFill>
                  <a:srgbClr val="172C29"/>
                </a:solidFill>
                <a:latin typeface="Aptos"/>
              </a:defRPr>
            </a:pPr>
            <a:r>
              <a:t>- Isolation Forest fits earlier log-expense and day-of-month features without anomaly labels.</a:t>
            </a:r>
          </a:p>
          <a:p>
            <a:pPr>
              <a:spcAft>
                <a:spcPts val="1300"/>
              </a:spcAft>
              <a:defRPr sz="1800">
                <a:solidFill>
                  <a:srgbClr val="172C29"/>
                </a:solidFill>
                <a:latin typeface="Aptos"/>
              </a:defRPr>
            </a:pPr>
            <a:r>
              <a:t>- Synthetic labels evaluate only later transactions; 66 transactions are flagged overall.</a:t>
            </a:r>
          </a:p>
          <a:p>
            <a:pPr>
              <a:spcAft>
                <a:spcPts val="1300"/>
              </a:spcAft>
              <a:defRPr sz="1800">
                <a:solidFill>
                  <a:srgbClr val="172C29"/>
                </a:solidFill>
                <a:latin typeface="Aptos"/>
              </a:defRPr>
            </a:pPr>
            <a:r>
              <a:t>- Holdout precision: 7.14%; recall: 33.33%, with only 3 injected holdout anomalies.</a:t>
            </a:r>
          </a:p>
          <a:p>
            <a:pPr>
              <a:spcAft>
                <a:spcPts val="1300"/>
              </a:spcAft>
              <a:defRPr sz="1800">
                <a:solidFill>
                  <a:srgbClr val="172C29"/>
                </a:solidFill>
                <a:latin typeface="Aptos"/>
              </a:defRPr>
            </a:pPr>
            <a:r>
              <a:t>- Low precision means many flagged purchases are not injected anomalies.</a:t>
            </a:r>
          </a:p>
        </p:txBody>
      </p:sp>
      <p:pic>
        <p:nvPicPr>
          <p:cNvPr id="6" name="Picture 5" descr="anomalies.png"/>
          <p:cNvPicPr>
            <a:picLocks noChangeAspect="1"/>
          </p:cNvPicPr>
          <p:nvPr/>
        </p:nvPicPr>
        <p:blipFill>
          <a:blip r:embed="rId2"/>
          <a:stretch>
            <a:fillRect/>
          </a:stretch>
        </p:blipFill>
        <p:spPr>
          <a:xfrm>
            <a:off x="4526280" y="2577101"/>
            <a:ext cx="7040880" cy="2389596"/>
          </a:xfrm>
          <a:prstGeom prst="rect">
            <a:avLst/>
          </a:prstGeom>
        </p:spPr>
      </p:pic>
      <p:sp>
        <p:nvSpPr>
          <p:cNvPr id="7" name="TextBox 6"/>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A flag is a review candidate, not a fraud conclusion or a payment-blocking decision.</a:t>
            </a:r>
          </a:p>
        </p:txBody>
      </p:sp>
      <p:sp>
        <p:nvSpPr>
          <p:cNvPr id="8" name="TextBox 7"/>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9" name="TextBox 8"/>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12 / 20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Expense Forecasting and Backtesting</a:t>
            </a:r>
          </a:p>
        </p:txBody>
      </p:sp>
      <p:sp>
        <p:nvSpPr>
          <p:cNvPr id="5" name="TextBox 4"/>
          <p:cNvSpPr txBox="1"/>
          <p:nvPr/>
        </p:nvSpPr>
        <p:spPr>
          <a:xfrm>
            <a:off x="621792" y="1645920"/>
            <a:ext cx="3611880" cy="4206240"/>
          </a:xfrm>
          <a:prstGeom prst="rect">
            <a:avLst/>
          </a:prstGeom>
          <a:noFill/>
        </p:spPr>
        <p:txBody>
          <a:bodyPr wrap="square" lIns="0" rIns="0" tIns="0" bIns="0">
            <a:spAutoFit/>
          </a:bodyPr>
          <a:lstStyle/>
          <a:p>
            <a:pPr>
              <a:spcAft>
                <a:spcPts val="1300"/>
              </a:spcAft>
              <a:defRPr sz="1800">
                <a:solidFill>
                  <a:srgbClr val="172C29"/>
                </a:solidFill>
                <a:latin typeface="Aptos"/>
              </a:defRPr>
            </a:pPr>
            <a:r>
              <a:t>- Ridge features: previous month, three-month mean, last year's same month, and calendar seasonality.</a:t>
            </a:r>
          </a:p>
          <a:p>
            <a:pPr>
              <a:spcAft>
                <a:spcPts val="1300"/>
              </a:spcAft>
              <a:defRPr sz="1800">
                <a:solidFill>
                  <a:srgbClr val="172C29"/>
                </a:solidFill>
                <a:latin typeface="Aptos"/>
              </a:defRPr>
            </a:pPr>
            <a:r>
              <a:t>- Refit chronologically for 12 one-month-ahead backtest predictions.</a:t>
            </a:r>
          </a:p>
          <a:p>
            <a:pPr>
              <a:spcAft>
                <a:spcPts val="1300"/>
              </a:spcAft>
              <a:defRPr sz="1800">
                <a:solidFill>
                  <a:srgbClr val="172C29"/>
                </a:solidFill>
                <a:latin typeface="Aptos"/>
              </a:defRPr>
            </a:pPr>
            <a:r>
              <a:t>- MAE: 364.60 USD versus seasonal-naive baseline 413.31 USD.</a:t>
            </a:r>
          </a:p>
          <a:p>
            <a:pPr>
              <a:spcAft>
                <a:spcPts val="1300"/>
              </a:spcAft>
              <a:defRPr sz="1800">
                <a:solidFill>
                  <a:srgbClr val="172C29"/>
                </a:solidFill>
                <a:latin typeface="Aptos"/>
              </a:defRPr>
            </a:pPr>
            <a:r>
              <a:t>- Generate six future months recursively from available history and predictions.</a:t>
            </a:r>
          </a:p>
        </p:txBody>
      </p:sp>
      <p:pic>
        <p:nvPicPr>
          <p:cNvPr id="6" name="Picture 5" descr="forecast.png"/>
          <p:cNvPicPr>
            <a:picLocks noChangeAspect="1"/>
          </p:cNvPicPr>
          <p:nvPr/>
        </p:nvPicPr>
        <p:blipFill>
          <a:blip r:embed="rId2"/>
          <a:stretch>
            <a:fillRect/>
          </a:stretch>
        </p:blipFill>
        <p:spPr>
          <a:xfrm>
            <a:off x="4526280" y="2577101"/>
            <a:ext cx="7040880" cy="2389596"/>
          </a:xfrm>
          <a:prstGeom prst="rect">
            <a:avLst/>
          </a:prstGeom>
        </p:spPr>
      </p:pic>
      <p:sp>
        <p:nvSpPr>
          <p:cNvPr id="7" name="TextBox 6"/>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Lower MAE is better. The forecast band's residual shading is heuristic, not a calibrated interval.</a:t>
            </a:r>
          </a:p>
        </p:txBody>
      </p:sp>
      <p:sp>
        <p:nvSpPr>
          <p:cNvPr id="8" name="TextBox 7"/>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9" name="TextBox 8"/>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13 / 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Interactive Notebook Demonstration</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Run all cells to generate fixtures, clean transactions, train models, and export results.</a:t>
            </a:r>
          </a:p>
          <a:p>
            <a:pPr>
              <a:spcAft>
                <a:spcPts val="1600"/>
              </a:spcAft>
              <a:defRPr sz="2100">
                <a:solidFill>
                  <a:srgbClr val="172C29"/>
                </a:solidFill>
                <a:latin typeface="Aptos"/>
              </a:defRPr>
            </a:pPr>
            <a:r>
              <a:t>- Change year and category controls to inspect monthly spending.</a:t>
            </a:r>
          </a:p>
          <a:p>
            <a:pPr>
              <a:spcAft>
                <a:spcPts val="1600"/>
              </a:spcAft>
              <a:defRPr sz="2100">
                <a:solidFill>
                  <a:srgbClr val="172C29"/>
                </a:solidFill>
                <a:latin typeface="Aptos"/>
              </a:defRPr>
            </a:pPr>
            <a:r>
              <a:t>- Adjust the budget-reduction slider to compare hypothetical expense and net cash flow.</a:t>
            </a:r>
          </a:p>
          <a:p>
            <a:pPr>
              <a:spcAft>
                <a:spcPts val="1600"/>
              </a:spcAft>
              <a:defRPr sz="2100">
                <a:solidFill>
                  <a:srgbClr val="172C29"/>
                </a:solidFill>
                <a:latin typeface="Aptos"/>
              </a:defRPr>
            </a:pPr>
            <a:r>
              <a:t>- Inspect nested receipt JSON and monthly SQL summaries in SQLite.</a:t>
            </a:r>
          </a:p>
          <a:p>
            <a:pPr>
              <a:spcAft>
                <a:spcPts val="1600"/>
              </a:spcAft>
              <a:defRPr sz="2100">
                <a:solidFill>
                  <a:srgbClr val="172C29"/>
                </a:solidFill>
                <a:latin typeface="Aptos"/>
              </a:defRPr>
            </a:pPr>
            <a:r>
              <a:t>- Open the CSV, PNG, HTML, and timestamped Markdown execution reports.</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Static exports preserve charts and tables; live widget interaction requires a running notebook kernel.</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14 / 20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Implementation Modules and Outputs</a:t>
            </a:r>
          </a:p>
        </p:txBody>
      </p:sp>
      <p:graphicFrame>
        <p:nvGraphicFramePr>
          <p:cNvPr id="5" name="Table 4"/>
          <p:cNvGraphicFramePr>
            <a:graphicFrameLocks noGrp="1"/>
          </p:cNvGraphicFramePr>
          <p:nvPr/>
        </p:nvGraphicFramePr>
        <p:xfrm>
          <a:off x="621792" y="1783080"/>
          <a:ext cx="10927080" cy="3931920"/>
        </p:xfrm>
        <a:graphic>
          <a:graphicData uri="http://schemas.openxmlformats.org/drawingml/2006/table">
            <a:tbl>
              <a:tblPr firstRow="1" bandRow="1">
                <a:tableStyleId>{5C22544A-7EE6-4342-B048-85BDC9FD1C3A}</a:tableStyleId>
              </a:tblPr>
              <a:tblGrid>
                <a:gridCol w="5463540"/>
                <a:gridCol w="5463540"/>
              </a:tblGrid>
              <a:tr h="561702">
                <a:tc>
                  <a:txBody>
                    <a:bodyPr/>
                    <a:lstStyle/>
                    <a:p>
                      <a:pPr>
                        <a:defRPr sz="1600" b="1">
                          <a:solidFill>
                            <a:srgbClr val="FFFFFF"/>
                          </a:solidFill>
                          <a:latin typeface="Aptos"/>
                        </a:defRPr>
                      </a:pPr>
                      <a:r>
                        <a:t>Module / artifact</a:t>
                      </a:r>
                    </a:p>
                  </a:txBody>
                  <a:tcPr>
                    <a:solidFill>
                      <a:srgbClr val="167464"/>
                    </a:solidFill>
                  </a:tcPr>
                </a:tc>
                <a:tc>
                  <a:txBody>
                    <a:bodyPr/>
                    <a:lstStyle/>
                    <a:p>
                      <a:pPr>
                        <a:defRPr sz="1600" b="1">
                          <a:solidFill>
                            <a:srgbClr val="FFFFFF"/>
                          </a:solidFill>
                          <a:latin typeface="Aptos"/>
                        </a:defRPr>
                      </a:pPr>
                      <a:r>
                        <a:t>Responsibility</a:t>
                      </a:r>
                    </a:p>
                  </a:txBody>
                  <a:tcPr>
                    <a:solidFill>
                      <a:srgbClr val="167464"/>
                    </a:solidFill>
                  </a:tcPr>
                </a:tc>
              </a:tr>
              <a:tr h="561702">
                <a:tc>
                  <a:txBody>
                    <a:bodyPr/>
                    <a:lstStyle/>
                    <a:p>
                      <a:pPr>
                        <a:defRPr sz="1600" b="0">
                          <a:solidFill>
                            <a:srgbClr val="172C29"/>
                          </a:solidFill>
                          <a:latin typeface="Aptos"/>
                        </a:defRPr>
                      </a:pPr>
                      <a:r>
                        <a:t>data.py</a:t>
                      </a:r>
                    </a:p>
                  </a:txBody>
                  <a:tcPr>
                    <a:solidFill>
                      <a:srgbClr val="EAF3EF"/>
                    </a:solidFill>
                  </a:tcPr>
                </a:tc>
                <a:tc>
                  <a:txBody>
                    <a:bodyPr/>
                    <a:lstStyle/>
                    <a:p>
                      <a:pPr>
                        <a:defRPr sz="1600" b="0">
                          <a:solidFill>
                            <a:srgbClr val="172C29"/>
                          </a:solidFill>
                          <a:latin typeface="Aptos"/>
                        </a:defRPr>
                      </a:pPr>
                      <a:r>
                        <a:t>Fixtures, CSV/JSON ingestion, audit, SQLite upserts</a:t>
                      </a:r>
                    </a:p>
                  </a:txBody>
                  <a:tcPr>
                    <a:solidFill>
                      <a:srgbClr val="EAF3EF"/>
                    </a:solidFill>
                  </a:tcPr>
                </a:tc>
              </a:tr>
              <a:tr h="561702">
                <a:tc>
                  <a:txBody>
                    <a:bodyPr/>
                    <a:lstStyle/>
                    <a:p>
                      <a:pPr>
                        <a:defRPr sz="1600" b="0">
                          <a:solidFill>
                            <a:srgbClr val="172C29"/>
                          </a:solidFill>
                          <a:latin typeface="Aptos"/>
                        </a:defRPr>
                      </a:pPr>
                      <a:r>
                        <a:t>analytics.py</a:t>
                      </a:r>
                    </a:p>
                  </a:txBody>
                  <a:tcPr>
                    <a:solidFill>
                      <a:srgbClr val="FFFFFF"/>
                    </a:solidFill>
                  </a:tcPr>
                </a:tc>
                <a:tc>
                  <a:txBody>
                    <a:bodyPr/>
                    <a:lstStyle/>
                    <a:p>
                      <a:pPr>
                        <a:defRPr sz="1600" b="0">
                          <a:solidFill>
                            <a:srgbClr val="172C29"/>
                          </a:solidFill>
                          <a:latin typeface="Aptos"/>
                        </a:defRPr>
                      </a:pPr>
                      <a:r>
                        <a:t>Monthly mart, ML experiments, and charts</a:t>
                      </a:r>
                    </a:p>
                  </a:txBody>
                  <a:tcPr>
                    <a:solidFill>
                      <a:srgbClr val="FFFFFF"/>
                    </a:solidFill>
                  </a:tcPr>
                </a:tc>
              </a:tr>
              <a:tr h="561702">
                <a:tc>
                  <a:txBody>
                    <a:bodyPr/>
                    <a:lstStyle/>
                    <a:p>
                      <a:pPr>
                        <a:defRPr sz="1600" b="0">
                          <a:solidFill>
                            <a:srgbClr val="172C29"/>
                          </a:solidFill>
                          <a:latin typeface="Aptos"/>
                        </a:defRPr>
                      </a:pPr>
                      <a:r>
                        <a:t>pipeline.py</a:t>
                      </a:r>
                    </a:p>
                  </a:txBody>
                  <a:tcPr>
                    <a:solidFill>
                      <a:srgbClr val="EAF3EF"/>
                    </a:solidFill>
                  </a:tcPr>
                </a:tc>
                <a:tc>
                  <a:txBody>
                    <a:bodyPr/>
                    <a:lstStyle/>
                    <a:p>
                      <a:pPr>
                        <a:defRPr sz="1600" b="0">
                          <a:solidFill>
                            <a:srgbClr val="172C29"/>
                          </a:solidFill>
                          <a:latin typeface="Aptos"/>
                        </a:defRPr>
                      </a:pPr>
                      <a:r>
                        <a:t>Shared workflow and finance-demo CLI</a:t>
                      </a:r>
                    </a:p>
                  </a:txBody>
                  <a:tcPr>
                    <a:solidFill>
                      <a:srgbClr val="EAF3EF"/>
                    </a:solidFill>
                  </a:tcPr>
                </a:tc>
              </a:tr>
              <a:tr h="561702">
                <a:tc>
                  <a:txBody>
                    <a:bodyPr/>
                    <a:lstStyle/>
                    <a:p>
                      <a:pPr>
                        <a:defRPr sz="1600" b="0">
                          <a:solidFill>
                            <a:srgbClr val="172C29"/>
                          </a:solidFill>
                          <a:latin typeface="Aptos"/>
                        </a:defRPr>
                      </a:pPr>
                      <a:r>
                        <a:t>finance_demo.ipynb</a:t>
                      </a:r>
                    </a:p>
                  </a:txBody>
                  <a:tcPr>
                    <a:solidFill>
                      <a:srgbClr val="FFFFFF"/>
                    </a:solidFill>
                  </a:tcPr>
                </a:tc>
                <a:tc>
                  <a:txBody>
                    <a:bodyPr/>
                    <a:lstStyle/>
                    <a:p>
                      <a:pPr>
                        <a:defRPr sz="1600" b="0">
                          <a:solidFill>
                            <a:srgbClr val="172C29"/>
                          </a:solidFill>
                          <a:latin typeface="Aptos"/>
                        </a:defRPr>
                      </a:pPr>
                      <a:r>
                        <a:t>Narrative, results, filters, scenarios, and SQL inspection</a:t>
                      </a:r>
                    </a:p>
                  </a:txBody>
                  <a:tcPr>
                    <a:solidFill>
                      <a:srgbClr val="FFFFFF"/>
                    </a:solidFill>
                  </a:tcPr>
                </a:tc>
              </a:tr>
              <a:tr h="561702">
                <a:tc>
                  <a:txBody>
                    <a:bodyPr/>
                    <a:lstStyle/>
                    <a:p>
                      <a:pPr>
                        <a:defRPr sz="1600" b="0">
                          <a:solidFill>
                            <a:srgbClr val="172C29"/>
                          </a:solidFill>
                          <a:latin typeface="Aptos"/>
                        </a:defRPr>
                      </a:pPr>
                      <a:r>
                        <a:t>outputs/</a:t>
                      </a:r>
                    </a:p>
                  </a:txBody>
                  <a:tcPr>
                    <a:solidFill>
                      <a:srgbClr val="EAF3EF"/>
                    </a:solidFill>
                  </a:tcPr>
                </a:tc>
                <a:tc>
                  <a:txBody>
                    <a:bodyPr/>
                    <a:lstStyle/>
                    <a:p>
                      <a:pPr>
                        <a:defRPr sz="1600" b="0">
                          <a:solidFill>
                            <a:srgbClr val="172C29"/>
                          </a:solidFill>
                          <a:latin typeface="Aptos"/>
                        </a:defRPr>
                      </a:pPr>
                      <a:r>
                        <a:t>Metrics, categorized CSV, forecast, anomalies, charts, SQLite, HTML</a:t>
                      </a:r>
                    </a:p>
                  </a:txBody>
                  <a:tcPr>
                    <a:solidFill>
                      <a:srgbClr val="EAF3EF"/>
                    </a:solidFill>
                  </a:tcPr>
                </a:tc>
              </a:tr>
              <a:tr h="561708">
                <a:tc>
                  <a:txBody>
                    <a:bodyPr/>
                    <a:lstStyle/>
                    <a:p>
                      <a:pPr>
                        <a:defRPr sz="1600" b="0">
                          <a:solidFill>
                            <a:srgbClr val="172C29"/>
                          </a:solidFill>
                          <a:latin typeface="Aptos"/>
                        </a:defRPr>
                      </a:pPr>
                      <a:r>
                        <a:t>ACTIVITIES.md</a:t>
                      </a:r>
                    </a:p>
                  </a:txBody>
                  <a:tcPr>
                    <a:solidFill>
                      <a:srgbClr val="FFFFFF"/>
                    </a:solidFill>
                  </a:tcPr>
                </a:tc>
                <a:tc>
                  <a:txBody>
                    <a:bodyPr/>
                    <a:lstStyle/>
                    <a:p>
                      <a:pPr>
                        <a:defRPr sz="1600" b="0">
                          <a:solidFill>
                            <a:srgbClr val="172C29"/>
                          </a:solidFill>
                          <a:latin typeface="Aptos"/>
                        </a:defRPr>
                      </a:pPr>
                      <a:r>
                        <a:t>Implementation/setup record; notebook also writes a runtime log</a:t>
                      </a:r>
                    </a:p>
                  </a:txBody>
                  <a:tcPr>
                    <a:solidFill>
                      <a:srgbClr val="FFFFFF"/>
                    </a:solidFill>
                  </a:tcPr>
                </a:tc>
              </a:tr>
            </a:tbl>
          </a:graphicData>
        </a:graphic>
      </p:graphicFrame>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Generated data and reports are ignored by Git; portable code and generic configuration are versioned.</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15 / 20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Testing and Reproducibility</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Six local tests pass with warnings treated as errors.</a:t>
            </a:r>
          </a:p>
          <a:p>
            <a:pPr>
              <a:spcAft>
                <a:spcPts val="1600"/>
              </a:spcAft>
              <a:defRPr sz="2100">
                <a:solidFill>
                  <a:srgbClr val="172C29"/>
                </a:solidFill>
                <a:latin typeface="Aptos"/>
              </a:defRPr>
            </a:pPr>
            <a:r>
              <a:t>- Tests cover cleaning, currency/ID validation, upserts, inference, exports, chronology, and CLI scope.</a:t>
            </a:r>
          </a:p>
          <a:p>
            <a:pPr>
              <a:spcAft>
                <a:spcPts val="1600"/>
              </a:spcAft>
              <a:defRPr sz="2100">
                <a:solidFill>
                  <a:srgbClr val="172C29"/>
                </a:solidFill>
                <a:latin typeface="Aptos"/>
              </a:defRPr>
            </a:pPr>
            <a:r>
              <a:t>- A forecast leakage test changes the final actual month and checks prior predictions remain unchanged.</a:t>
            </a:r>
          </a:p>
          <a:p>
            <a:pPr>
              <a:spcAft>
                <a:spcPts val="1600"/>
              </a:spcAft>
              <a:defRPr sz="2100">
                <a:solidFill>
                  <a:srgbClr val="172C29"/>
                </a:solidFill>
                <a:latin typeface="Aptos"/>
              </a:defRPr>
            </a:pPr>
            <a:r>
              <a:t>- All six notebook code cells execute in a clean environment; five nonblank chart images were verified.</a:t>
            </a:r>
          </a:p>
          <a:p>
            <a:pPr>
              <a:spcAft>
                <a:spcPts val="1600"/>
              </a:spcAft>
              <a:defRPr sz="2100">
                <a:solidFill>
                  <a:srgbClr val="172C29"/>
                </a:solidFill>
                <a:latin typeface="Aptos"/>
              </a:defRPr>
            </a:pPr>
            <a:r>
              <a:t>- Pinned dependencies, a fixed seed, and a shared pipeline support reproducibility on another machine.</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Docker configuration was checked, but Docker runtime and remote CI execution were not verified locally.</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16 / 20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Results Summary</a:t>
            </a:r>
          </a:p>
        </p:txBody>
      </p:sp>
      <p:graphicFrame>
        <p:nvGraphicFramePr>
          <p:cNvPr id="5" name="Table 4"/>
          <p:cNvGraphicFramePr>
            <a:graphicFrameLocks noGrp="1"/>
          </p:cNvGraphicFramePr>
          <p:nvPr/>
        </p:nvGraphicFramePr>
        <p:xfrm>
          <a:off x="621792" y="1783080"/>
          <a:ext cx="10927080" cy="3931920"/>
        </p:xfrm>
        <a:graphic>
          <a:graphicData uri="http://schemas.openxmlformats.org/drawingml/2006/table">
            <a:tbl>
              <a:tblPr firstRow="1" bandRow="1">
                <a:tableStyleId>{5C22544A-7EE6-4342-B048-85BDC9FD1C3A}</a:tableStyleId>
              </a:tblPr>
              <a:tblGrid>
                <a:gridCol w="3642360"/>
                <a:gridCol w="3642360"/>
                <a:gridCol w="3642360"/>
              </a:tblGrid>
              <a:tr h="655320">
                <a:tc>
                  <a:txBody>
                    <a:bodyPr/>
                    <a:lstStyle/>
                    <a:p>
                      <a:pPr>
                        <a:defRPr sz="1400" b="1">
                          <a:solidFill>
                            <a:srgbClr val="FFFFFF"/>
                          </a:solidFill>
                          <a:latin typeface="Aptos"/>
                        </a:defRPr>
                      </a:pPr>
                      <a:r>
                        <a:t>Experiment</a:t>
                      </a:r>
                    </a:p>
                  </a:txBody>
                  <a:tcPr>
                    <a:solidFill>
                      <a:srgbClr val="167464"/>
                    </a:solidFill>
                  </a:tcPr>
                </a:tc>
                <a:tc>
                  <a:txBody>
                    <a:bodyPr/>
                    <a:lstStyle/>
                    <a:p>
                      <a:pPr>
                        <a:defRPr sz="1400" b="1">
                          <a:solidFill>
                            <a:srgbClr val="FFFFFF"/>
                          </a:solidFill>
                          <a:latin typeface="Aptos"/>
                        </a:defRPr>
                      </a:pPr>
                      <a:r>
                        <a:t>Observed result</a:t>
                      </a:r>
                    </a:p>
                  </a:txBody>
                  <a:tcPr>
                    <a:solidFill>
                      <a:srgbClr val="167464"/>
                    </a:solidFill>
                  </a:tcPr>
                </a:tc>
                <a:tc>
                  <a:txBody>
                    <a:bodyPr/>
                    <a:lstStyle/>
                    <a:p>
                      <a:pPr>
                        <a:defRPr sz="1400" b="1">
                          <a:solidFill>
                            <a:srgbClr val="FFFFFF"/>
                          </a:solidFill>
                          <a:latin typeface="Aptos"/>
                        </a:defRPr>
                      </a:pPr>
                      <a:r>
                        <a:t>Interpretation</a:t>
                      </a:r>
                    </a:p>
                  </a:txBody>
                  <a:tcPr>
                    <a:solidFill>
                      <a:srgbClr val="167464"/>
                    </a:solidFill>
                  </a:tcPr>
                </a:tc>
              </a:tr>
              <a:tr h="655320">
                <a:tc>
                  <a:txBody>
                    <a:bodyPr/>
                    <a:lstStyle/>
                    <a:p>
                      <a:pPr>
                        <a:defRPr sz="1400" b="0">
                          <a:solidFill>
                            <a:srgbClr val="172C29"/>
                          </a:solidFill>
                          <a:latin typeface="Aptos"/>
                        </a:defRPr>
                      </a:pPr>
                      <a:r>
                        <a:t>Data quality</a:t>
                      </a:r>
                    </a:p>
                  </a:txBody>
                  <a:tcPr>
                    <a:solidFill>
                      <a:srgbClr val="EAF3EF"/>
                    </a:solidFill>
                  </a:tcPr>
                </a:tc>
                <a:tc>
                  <a:txBody>
                    <a:bodyPr/>
                    <a:lstStyle/>
                    <a:p>
                      <a:pPr>
                        <a:defRPr sz="1400" b="0">
                          <a:solidFill>
                            <a:srgbClr val="172C29"/>
                          </a:solidFill>
                          <a:latin typeface="Aptos"/>
                        </a:defRPr>
                      </a:pPr>
                      <a:r>
                        <a:t>4,333 raw -&gt; 4,320 clean</a:t>
                      </a:r>
                    </a:p>
                  </a:txBody>
                  <a:tcPr>
                    <a:solidFill>
                      <a:srgbClr val="EAF3EF"/>
                    </a:solidFill>
                  </a:tcPr>
                </a:tc>
                <a:tc>
                  <a:txBody>
                    <a:bodyPr/>
                    <a:lstStyle/>
                    <a:p>
                      <a:pPr>
                        <a:defRPr sz="1400" b="0">
                          <a:solidFill>
                            <a:srgbClr val="172C29"/>
                          </a:solidFill>
                          <a:latin typeface="Aptos"/>
                        </a:defRPr>
                      </a:pPr>
                      <a:r>
                        <a:t>Audit makes preprocessing visible</a:t>
                      </a:r>
                    </a:p>
                  </a:txBody>
                  <a:tcPr>
                    <a:solidFill>
                      <a:srgbClr val="EAF3EF"/>
                    </a:solidFill>
                  </a:tcPr>
                </a:tc>
              </a:tr>
              <a:tr h="655320">
                <a:tc>
                  <a:txBody>
                    <a:bodyPr/>
                    <a:lstStyle/>
                    <a:p>
                      <a:pPr>
                        <a:defRPr sz="1400" b="0">
                          <a:solidFill>
                            <a:srgbClr val="172C29"/>
                          </a:solidFill>
                          <a:latin typeface="Aptos"/>
                        </a:defRPr>
                      </a:pPr>
                      <a:r>
                        <a:t>Category macro F1</a:t>
                      </a:r>
                    </a:p>
                  </a:txBody>
                  <a:tcPr>
                    <a:solidFill>
                      <a:srgbClr val="FFFFFF"/>
                    </a:solidFill>
                  </a:tcPr>
                </a:tc>
                <a:tc>
                  <a:txBody>
                    <a:bodyPr/>
                    <a:lstStyle/>
                    <a:p>
                      <a:pPr>
                        <a:defRPr sz="1400" b="0">
                          <a:solidFill>
                            <a:srgbClr val="172C29"/>
                          </a:solidFill>
                          <a:latin typeface="Aptos"/>
                        </a:defRPr>
                      </a:pPr>
                      <a:r>
                        <a:t>0.9872 vs 0.0549 baseline</a:t>
                      </a:r>
                    </a:p>
                  </a:txBody>
                  <a:tcPr>
                    <a:solidFill>
                      <a:srgbClr val="FFFFFF"/>
                    </a:solidFill>
                  </a:tcPr>
                </a:tc>
                <a:tc>
                  <a:txBody>
                    <a:bodyPr/>
                    <a:lstStyle/>
                    <a:p>
                      <a:pPr>
                        <a:defRPr sz="1400" b="0">
                          <a:solidFill>
                            <a:srgbClr val="172C29"/>
                          </a:solidFill>
                          <a:latin typeface="Aptos"/>
                        </a:defRPr>
                      </a:pPr>
                      <a:r>
                        <a:t>Strong on repeated synthetic merchants</a:t>
                      </a:r>
                    </a:p>
                  </a:txBody>
                  <a:tcPr>
                    <a:solidFill>
                      <a:srgbClr val="FFFFFF"/>
                    </a:solidFill>
                  </a:tcPr>
                </a:tc>
              </a:tr>
              <a:tr h="655320">
                <a:tc>
                  <a:txBody>
                    <a:bodyPr/>
                    <a:lstStyle/>
                    <a:p>
                      <a:pPr>
                        <a:defRPr sz="1400" b="0">
                          <a:solidFill>
                            <a:srgbClr val="172C29"/>
                          </a:solidFill>
                          <a:latin typeface="Aptos"/>
                        </a:defRPr>
                      </a:pPr>
                      <a:r>
                        <a:t>Anomaly precision / recall</a:t>
                      </a:r>
                    </a:p>
                  </a:txBody>
                  <a:tcPr>
                    <a:solidFill>
                      <a:srgbClr val="EAF3EF"/>
                    </a:solidFill>
                  </a:tcPr>
                </a:tc>
                <a:tc>
                  <a:txBody>
                    <a:bodyPr/>
                    <a:lstStyle/>
                    <a:p>
                      <a:pPr>
                        <a:defRPr sz="1400" b="0">
                          <a:solidFill>
                            <a:srgbClr val="172C29"/>
                          </a:solidFill>
                          <a:latin typeface="Aptos"/>
                        </a:defRPr>
                      </a:pPr>
                      <a:r>
                        <a:t>7.14% / 33.33%</a:t>
                      </a:r>
                    </a:p>
                  </a:txBody>
                  <a:tcPr>
                    <a:solidFill>
                      <a:srgbClr val="EAF3EF"/>
                    </a:solidFill>
                  </a:tcPr>
                </a:tc>
                <a:tc>
                  <a:txBody>
                    <a:bodyPr/>
                    <a:lstStyle/>
                    <a:p>
                      <a:pPr>
                        <a:defRPr sz="1400" b="0">
                          <a:solidFill>
                            <a:srgbClr val="172C29"/>
                          </a:solidFill>
                          <a:latin typeface="Aptos"/>
                        </a:defRPr>
                      </a:pPr>
                      <a:r>
                        <a:t>Weak precision; human review essential</a:t>
                      </a:r>
                    </a:p>
                  </a:txBody>
                  <a:tcPr>
                    <a:solidFill>
                      <a:srgbClr val="EAF3EF"/>
                    </a:solidFill>
                  </a:tcPr>
                </a:tc>
              </a:tr>
              <a:tr h="655320">
                <a:tc>
                  <a:txBody>
                    <a:bodyPr/>
                    <a:lstStyle/>
                    <a:p>
                      <a:pPr>
                        <a:defRPr sz="1400" b="0">
                          <a:solidFill>
                            <a:srgbClr val="172C29"/>
                          </a:solidFill>
                          <a:latin typeface="Aptos"/>
                        </a:defRPr>
                      </a:pPr>
                      <a:r>
                        <a:t>Forecast MAE (USD)</a:t>
                      </a:r>
                    </a:p>
                  </a:txBody>
                  <a:tcPr>
                    <a:solidFill>
                      <a:srgbClr val="FFFFFF"/>
                    </a:solidFill>
                  </a:tcPr>
                </a:tc>
                <a:tc>
                  <a:txBody>
                    <a:bodyPr/>
                    <a:lstStyle/>
                    <a:p>
                      <a:pPr>
                        <a:defRPr sz="1400" b="0">
                          <a:solidFill>
                            <a:srgbClr val="172C29"/>
                          </a:solidFill>
                          <a:latin typeface="Aptos"/>
                        </a:defRPr>
                      </a:pPr>
                      <a:r>
                        <a:t>364.60 vs 413.31 baseline</a:t>
                      </a:r>
                    </a:p>
                  </a:txBody>
                  <a:tcPr>
                    <a:solidFill>
                      <a:srgbClr val="FFFFFF"/>
                    </a:solidFill>
                  </a:tcPr>
                </a:tc>
                <a:tc>
                  <a:txBody>
                    <a:bodyPr/>
                    <a:lstStyle/>
                    <a:p>
                      <a:pPr>
                        <a:defRPr sz="1400" b="0">
                          <a:solidFill>
                            <a:srgbClr val="172C29"/>
                          </a:solidFill>
                          <a:latin typeface="Aptos"/>
                        </a:defRPr>
                      </a:pPr>
                      <a:r>
                        <a:t>Lower error on this synthetic backtest</a:t>
                      </a:r>
                    </a:p>
                  </a:txBody>
                  <a:tcPr>
                    <a:solidFill>
                      <a:srgbClr val="FFFFFF"/>
                    </a:solidFill>
                  </a:tcPr>
                </a:tc>
              </a:tr>
              <a:tr h="655320">
                <a:tc>
                  <a:txBody>
                    <a:bodyPr/>
                    <a:lstStyle/>
                    <a:p>
                      <a:pPr>
                        <a:defRPr sz="1400" b="0">
                          <a:solidFill>
                            <a:srgbClr val="172C29"/>
                          </a:solidFill>
                          <a:latin typeface="Aptos"/>
                        </a:defRPr>
                      </a:pPr>
                      <a:r>
                        <a:t>Local tests / notebook</a:t>
                      </a:r>
                    </a:p>
                  </a:txBody>
                  <a:tcPr>
                    <a:solidFill>
                      <a:srgbClr val="EAF3EF"/>
                    </a:solidFill>
                  </a:tcPr>
                </a:tc>
                <a:tc>
                  <a:txBody>
                    <a:bodyPr/>
                    <a:lstStyle/>
                    <a:p>
                      <a:pPr>
                        <a:defRPr sz="1400" b="0">
                          <a:solidFill>
                            <a:srgbClr val="172C29"/>
                          </a:solidFill>
                          <a:latin typeface="Aptos"/>
                        </a:defRPr>
                      </a:pPr>
                      <a:r>
                        <a:t>6 passed / 6 code cells executed</a:t>
                      </a:r>
                    </a:p>
                  </a:txBody>
                  <a:tcPr>
                    <a:solidFill>
                      <a:srgbClr val="EAF3EF"/>
                    </a:solidFill>
                  </a:tcPr>
                </a:tc>
                <a:tc>
                  <a:txBody>
                    <a:bodyPr/>
                    <a:lstStyle/>
                    <a:p>
                      <a:pPr>
                        <a:defRPr sz="1400" b="0">
                          <a:solidFill>
                            <a:srgbClr val="172C29"/>
                          </a:solidFill>
                          <a:latin typeface="Aptos"/>
                        </a:defRPr>
                      </a:pPr>
                      <a:r>
                        <a:t>Local workflow reproduced successfully</a:t>
                      </a:r>
                    </a:p>
                  </a:txBody>
                  <a:tcPr>
                    <a:solidFill>
                      <a:srgbClr val="EAF3EF"/>
                    </a:solidFill>
                  </a:tcPr>
                </a:tc>
              </a:tr>
            </a:tbl>
          </a:graphicData>
        </a:graphic>
      </p:graphicFrame>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All scores refer to the seed-42 synthetic experiment, not validated real-bank performance.</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17 / 20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Limitations, Privacy, and Ethics</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Synthetic data and repeated merchants limit generalization; anomaly ground truth is sparse and artificial.</a:t>
            </a:r>
          </a:p>
          <a:p>
            <a:pPr>
              <a:spcAft>
                <a:spcPts val="1600"/>
              </a:spcAft>
              <a:defRPr sz="2100">
                <a:solidFill>
                  <a:srgbClr val="172C29"/>
                </a:solidFill>
                <a:latin typeface="Aptos"/>
              </a:defRPr>
            </a:pPr>
            <a:r>
              <a:t>- Pandas is in-memory and SQLite is local; distributed-scale performance has not been demonstrated.</a:t>
            </a:r>
          </a:p>
          <a:p>
            <a:pPr>
              <a:spcAft>
                <a:spcPts val="1600"/>
              </a:spcAft>
              <a:defRPr sz="2100">
                <a:solidFill>
                  <a:srgbClr val="172C29"/>
                </a:solidFill>
                <a:latin typeface="Aptos"/>
              </a:defRPr>
            </a:pPr>
            <a:r>
              <a:t>- The pipeline is single-currency and needs complete history; transfers, refunds, and partial months need review.</a:t>
            </a:r>
          </a:p>
          <a:p>
            <a:pPr>
              <a:spcAft>
                <a:spcPts val="1600"/>
              </a:spcAft>
              <a:defRPr sz="2100">
                <a:solidFill>
                  <a:srgbClr val="172C29"/>
                </a:solidFill>
                <a:latin typeface="Aptos"/>
              </a:defRPr>
            </a:pPr>
            <a:r>
              <a:t>- Forecast bands are uncalibrated, and cumulative cash flow is not a bank balance.</a:t>
            </a:r>
          </a:p>
          <a:p>
            <a:pPr>
              <a:spcAft>
                <a:spcPts val="1600"/>
              </a:spcAft>
              <a:defRPr sz="2100">
                <a:solidFill>
                  <a:srgbClr val="172C29"/>
                </a:solidFill>
                <a:latin typeface="Aptos"/>
              </a:defRPr>
            </a:pPr>
            <a:r>
              <a:t>- Real datasets require consent, anonymization, label review, and careful control of notebook outputs.</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No investment recommendations, financial advice, or automatic fraud decisions are provided.</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18 / 20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Future Work and Conclusion</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Evaluate consented, anonymized bank records with human-reviewed labels and merchant-disjoint splits.</a:t>
            </a:r>
          </a:p>
          <a:p>
            <a:pPr>
              <a:spcAft>
                <a:spcPts val="1600"/>
              </a:spcAft>
              <a:defRPr sz="2100">
                <a:solidFill>
                  <a:srgbClr val="172C29"/>
                </a:solidFill>
                <a:latin typeface="Aptos"/>
              </a:defRPr>
            </a:pPr>
            <a:r>
              <a:t>- Improve anomaly review using richer context and more representative evaluation labels.</a:t>
            </a:r>
          </a:p>
          <a:p>
            <a:pPr>
              <a:spcAft>
                <a:spcPts val="1600"/>
              </a:spcAft>
              <a:defRPr sz="2100">
                <a:solidFill>
                  <a:srgbClr val="172C29"/>
                </a:solidFill>
                <a:latin typeface="Aptos"/>
              </a:defRPr>
            </a:pPr>
            <a:r>
              <a:t>- Compare forecasting methods, evaluate multiple horizons, and calibrate uncertainty.</a:t>
            </a:r>
          </a:p>
          <a:p>
            <a:pPr>
              <a:spcAft>
                <a:spcPts val="1600"/>
              </a:spcAft>
              <a:defRPr sz="2100">
                <a:solidFill>
                  <a:srgbClr val="172C29"/>
                </a:solidFill>
                <a:latin typeface="Aptos"/>
              </a:defRPr>
            </a:pPr>
            <a:r>
              <a:t>- Benchmark larger inputs before considering deferred infrastructure stored in future-cloud-scope/.</a:t>
            </a:r>
          </a:p>
          <a:p>
            <a:pPr>
              <a:spcAft>
                <a:spcPts val="1600"/>
              </a:spcAft>
              <a:defRPr sz="2100">
                <a:solidFill>
                  <a:srgbClr val="172C29"/>
                </a:solidFill>
                <a:latin typeface="Aptos"/>
              </a:defRPr>
            </a:pPr>
            <a:r>
              <a:t>- Conclusion: the project delivers a transparent, executable local workflow from raw records to evaluated insights.</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The notebook is the central deliverable; future infrastructure is outside the current assessed scope.</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19 / 20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1674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92608"/>
            <a:ext cx="10789920" cy="274320"/>
          </a:xfrm>
          <a:prstGeom prst="rect">
            <a:avLst/>
          </a:prstGeom>
          <a:noFill/>
        </p:spPr>
        <p:txBody>
          <a:bodyPr wrap="square" lIns="9144" rIns="9144" tIns="9144" bIns="9144">
            <a:spAutoFit/>
          </a:bodyPr>
          <a:lstStyle/>
          <a:p>
            <a:pPr>
              <a:defRPr sz="1100" b="1">
                <a:solidFill>
                  <a:srgbClr val="167464"/>
                </a:solidFill>
                <a:latin typeface="Aptos"/>
              </a:defRPr>
            </a:pPr>
            <a:r>
              <a:t>PERSONAL FINANCE TRACKER  /  BACHELOR'S PROJECT</a:t>
            </a:r>
          </a:p>
        </p:txBody>
      </p:sp>
      <p:sp>
        <p:nvSpPr>
          <p:cNvPr id="4" name="TextBox 3"/>
          <p:cNvSpPr txBox="1"/>
          <p:nvPr/>
        </p:nvSpPr>
        <p:spPr>
          <a:xfrm>
            <a:off x="621792" y="777240"/>
            <a:ext cx="10972800" cy="804672"/>
          </a:xfrm>
          <a:prstGeom prst="rect">
            <a:avLst/>
          </a:prstGeom>
          <a:noFill/>
        </p:spPr>
        <p:txBody>
          <a:bodyPr wrap="square" lIns="9144" rIns="9144" tIns="9144" bIns="9144">
            <a:spAutoFit/>
          </a:bodyPr>
          <a:lstStyle/>
          <a:p>
            <a:pPr>
              <a:defRPr sz="3100" b="1">
                <a:solidFill>
                  <a:srgbClr val="172C29"/>
                </a:solidFill>
                <a:latin typeface="Aptos"/>
              </a:defRPr>
            </a:pPr>
            <a:r>
              <a:t>References and Questions</a:t>
            </a:r>
          </a:p>
        </p:txBody>
      </p:sp>
      <p:sp>
        <p:nvSpPr>
          <p:cNvPr id="5" name="TextBox 4"/>
          <p:cNvSpPr txBox="1"/>
          <p:nvPr/>
        </p:nvSpPr>
        <p:spPr>
          <a:xfrm>
            <a:off x="621792" y="1645920"/>
            <a:ext cx="10789920" cy="4206240"/>
          </a:xfrm>
          <a:prstGeom prst="rect">
            <a:avLst/>
          </a:prstGeom>
          <a:noFill/>
        </p:spPr>
        <p:txBody>
          <a:bodyPr wrap="square" lIns="0" rIns="0" tIns="0" bIns="0">
            <a:spAutoFit/>
          </a:bodyPr>
          <a:lstStyle/>
          <a:p>
            <a:pPr>
              <a:spcAft>
                <a:spcPts val="1600"/>
              </a:spcAft>
              <a:defRPr sz="2100">
                <a:solidFill>
                  <a:srgbClr val="172C29"/>
                </a:solidFill>
                <a:latin typeface="Aptos"/>
              </a:defRPr>
            </a:pPr>
            <a:r>
              <a:t>- Python documentation: https://docs.python.org/3/</a:t>
            </a:r>
          </a:p>
          <a:p>
            <a:pPr>
              <a:spcAft>
                <a:spcPts val="1600"/>
              </a:spcAft>
              <a:defRPr sz="2100">
                <a:solidFill>
                  <a:srgbClr val="172C29"/>
                </a:solidFill>
                <a:latin typeface="Aptos"/>
              </a:defRPr>
            </a:pPr>
            <a:r>
              <a:t>- Pandas documentation: https://pandas.pydata.org/docs/</a:t>
            </a:r>
          </a:p>
          <a:p>
            <a:pPr>
              <a:spcAft>
                <a:spcPts val="1600"/>
              </a:spcAft>
              <a:defRPr sz="2100">
                <a:solidFill>
                  <a:srgbClr val="172C29"/>
                </a:solidFill>
                <a:latin typeface="Aptos"/>
              </a:defRPr>
            </a:pPr>
            <a:r>
              <a:t>- scikit-learn User Guide: https://scikit-learn.org/stable/user_guide.html</a:t>
            </a:r>
          </a:p>
          <a:p>
            <a:pPr>
              <a:spcAft>
                <a:spcPts val="1600"/>
              </a:spcAft>
              <a:defRPr sz="2100">
                <a:solidFill>
                  <a:srgbClr val="172C29"/>
                </a:solidFill>
                <a:latin typeface="Aptos"/>
              </a:defRPr>
            </a:pPr>
            <a:r>
              <a:t>- JupyterLab documentation: https://jupyterlab.readthedocs.io/en/stable/</a:t>
            </a:r>
          </a:p>
          <a:p>
            <a:pPr>
              <a:spcAft>
                <a:spcPts val="1600"/>
              </a:spcAft>
              <a:defRPr sz="2100">
                <a:solidFill>
                  <a:srgbClr val="172C29"/>
                </a:solidFill>
                <a:latin typeface="Aptos"/>
              </a:defRPr>
            </a:pPr>
            <a:r>
              <a:t>- SQLite JSON functions: https://www.sqlite.org/json1.html</a:t>
            </a:r>
          </a:p>
          <a:p>
            <a:pPr>
              <a:spcAft>
                <a:spcPts val="1600"/>
              </a:spcAft>
              <a:defRPr sz="2100">
                <a:solidFill>
                  <a:srgbClr val="172C29"/>
                </a:solidFill>
                <a:latin typeface="Aptos"/>
              </a:defRPr>
            </a:pPr>
            <a:r>
              <a:t>- Project repository: https://github.com/swasthika-aa/personal-finance-tracker</a:t>
            </a:r>
          </a:p>
        </p:txBody>
      </p:sp>
      <p:sp>
        <p:nvSpPr>
          <p:cNvPr id="6" name="TextBox 5"/>
          <p:cNvSpPr txBox="1"/>
          <p:nvPr/>
        </p:nvSpPr>
        <p:spPr>
          <a:xfrm>
            <a:off x="621792" y="6053328"/>
            <a:ext cx="10927080" cy="457200"/>
          </a:xfrm>
          <a:prstGeom prst="rect">
            <a:avLst/>
          </a:prstGeom>
          <a:noFill/>
        </p:spPr>
        <p:txBody>
          <a:bodyPr wrap="square" lIns="9144" rIns="9144" tIns="9144" bIns="9144">
            <a:spAutoFit/>
          </a:bodyPr>
          <a:lstStyle/>
          <a:p>
            <a:pPr>
              <a:defRPr sz="1200" b="0">
                <a:solidFill>
                  <a:srgbClr val="536762"/>
                </a:solidFill>
                <a:latin typeface="Aptos"/>
              </a:defRPr>
            </a:pPr>
            <a:r>
              <a:t>Thank you. Questions and discussion.</a:t>
            </a:r>
          </a:p>
        </p:txBody>
      </p:sp>
      <p:sp>
        <p:nvSpPr>
          <p:cNvPr id="7" name="TextBox 6"/>
          <p:cNvSpPr txBox="1"/>
          <p:nvPr/>
        </p:nvSpPr>
        <p:spPr>
          <a:xfrm>
            <a:off x="621792" y="6528816"/>
            <a:ext cx="9875520" cy="182880"/>
          </a:xfrm>
          <a:prstGeom prst="rect">
            <a:avLst/>
          </a:prstGeom>
          <a:noFill/>
        </p:spPr>
        <p:txBody>
          <a:bodyPr wrap="square" lIns="9144" rIns="9144" tIns="9144" bIns="9144">
            <a:spAutoFit/>
          </a:bodyPr>
          <a:lstStyle/>
          <a:p>
            <a:pPr>
              <a:defRPr sz="900" b="0">
                <a:solidFill>
                  <a:srgbClr val="536762"/>
                </a:solidFill>
                <a:latin typeface="Aptos"/>
              </a:defRPr>
            </a:pPr>
            <a:r>
              <a:t>LOCAL PYTHON  |  JUPYTER  |  REPRODUCIBLE ANALYTICS</a:t>
            </a:r>
          </a:p>
        </p:txBody>
      </p:sp>
      <p:sp>
        <p:nvSpPr>
          <p:cNvPr id="8" name="TextBox 7"/>
          <p:cNvSpPr txBox="1"/>
          <p:nvPr/>
        </p:nvSpPr>
        <p:spPr>
          <a:xfrm>
            <a:off x="10881360" y="6473952"/>
            <a:ext cx="731520" cy="274320"/>
          </a:xfrm>
          <a:prstGeom prst="rect">
            <a:avLst/>
          </a:prstGeom>
          <a:noFill/>
        </p:spPr>
        <p:txBody>
          <a:bodyPr wrap="square" lIns="9144" rIns="9144" tIns="9144" bIns="9144">
            <a:spAutoFit/>
          </a:bodyPr>
          <a:lstStyle/>
          <a:p>
            <a:pPr>
              <a:defRPr sz="1100" b="0">
                <a:solidFill>
                  <a:srgbClr val="536762"/>
                </a:solidFill>
                <a:latin typeface="Aptos"/>
              </a:defRPr>
            </a:pPr>
            <a:r>
              <a:t>20 /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Personal Finance Tracker and Predictive Visualizer</dc:title>
  <dc:subject/>
  <dc:creator>[STUDENT NAME(S)]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